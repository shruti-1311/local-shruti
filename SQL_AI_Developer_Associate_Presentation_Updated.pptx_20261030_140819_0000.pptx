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ptos Bold" charset="1" panose="020B0004020202020204"/>
      <p:regular r:id="rId13"/>
    </p:embeddedFont>
    <p:embeddedFont>
      <p:font typeface="Aptos" charset="1" panose="020B0004020202020204"/>
      <p:regular r:id="rId14"/>
    </p:embeddedFont>
    <p:embeddedFont>
      <p:font typeface="Calibri (MS) Bold" charset="1" panose="020F0702030404030204"/>
      <p:regular r:id="rId15"/>
    </p:embeddedFont>
    <p:embeddedFont>
      <p:font typeface="Calibri (MS)" charset="1" panose="020F050202020403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A1C4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2235" y="851059"/>
            <a:ext cx="466706" cy="466706"/>
            <a:chOff x="0" y="0"/>
            <a:chExt cx="622275" cy="6222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518541" y="0"/>
                  </a:lnTo>
                  <a:cubicBezTo>
                    <a:pt x="575818" y="0"/>
                    <a:pt x="622300" y="46482"/>
                    <a:pt x="622300" y="103759"/>
                  </a:cubicBezTo>
                  <a:lnTo>
                    <a:pt x="622300" y="518541"/>
                  </a:lnTo>
                  <a:cubicBezTo>
                    <a:pt x="622300" y="575818"/>
                    <a:pt x="575818" y="622300"/>
                    <a:pt x="518541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31B8E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82490" y="851059"/>
            <a:ext cx="466706" cy="466706"/>
            <a:chOff x="0" y="0"/>
            <a:chExt cx="622275" cy="6222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518541" y="0"/>
                  </a:lnTo>
                  <a:cubicBezTo>
                    <a:pt x="575818" y="0"/>
                    <a:pt x="622300" y="46482"/>
                    <a:pt x="622300" y="103759"/>
                  </a:cubicBezTo>
                  <a:lnTo>
                    <a:pt x="622300" y="518541"/>
                  </a:lnTo>
                  <a:cubicBezTo>
                    <a:pt x="622300" y="575818"/>
                    <a:pt x="575818" y="622300"/>
                    <a:pt x="518541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2AAE8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072735" y="851059"/>
            <a:ext cx="466706" cy="466706"/>
            <a:chOff x="0" y="0"/>
            <a:chExt cx="622275" cy="6222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518541" y="0"/>
                  </a:lnTo>
                  <a:cubicBezTo>
                    <a:pt x="575818" y="0"/>
                    <a:pt x="622300" y="46482"/>
                    <a:pt x="622300" y="103759"/>
                  </a:cubicBezTo>
                  <a:lnTo>
                    <a:pt x="622300" y="518541"/>
                  </a:lnTo>
                  <a:cubicBezTo>
                    <a:pt x="622300" y="575818"/>
                    <a:pt x="575818" y="622300"/>
                    <a:pt x="518541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5758C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9500" y="1853108"/>
            <a:ext cx="7686961" cy="1098137"/>
            <a:chOff x="0" y="0"/>
            <a:chExt cx="10249281" cy="14641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49288" cy="1464184"/>
            </a:xfrm>
            <a:custGeom>
              <a:avLst/>
              <a:gdLst/>
              <a:ahLst/>
              <a:cxnLst/>
              <a:rect r="r" b="b" t="t" l="l"/>
              <a:pathLst>
                <a:path h="1464184" w="10249288">
                  <a:moveTo>
                    <a:pt x="0" y="0"/>
                  </a:moveTo>
                  <a:lnTo>
                    <a:pt x="10249288" y="0"/>
                  </a:lnTo>
                  <a:lnTo>
                    <a:pt x="10249288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0249281" cy="1464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565"/>
                </a:lnSpc>
              </a:pPr>
              <a:r>
                <a:rPr lang="en-US" sz="630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SQL + AI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9500" y="3088510"/>
            <a:ext cx="9196902" cy="1990373"/>
            <a:chOff x="0" y="0"/>
            <a:chExt cx="12262536" cy="26538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262540" cy="2653833"/>
            </a:xfrm>
            <a:custGeom>
              <a:avLst/>
              <a:gdLst/>
              <a:ahLst/>
              <a:cxnLst/>
              <a:rect r="r" b="b" t="t" l="l"/>
              <a:pathLst>
                <a:path h="2653833" w="12262540">
                  <a:moveTo>
                    <a:pt x="0" y="0"/>
                  </a:moveTo>
                  <a:lnTo>
                    <a:pt x="12262540" y="0"/>
                  </a:lnTo>
                  <a:lnTo>
                    <a:pt x="12262540" y="2653833"/>
                  </a:lnTo>
                  <a:lnTo>
                    <a:pt x="0" y="26538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034" r="0" b="-4003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12262536" cy="26443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DCE8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Microsoft Certified:</a:t>
              </a:r>
            </a:p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DCE8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SQL AI Developer Associate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0686" y="5490686"/>
            <a:ext cx="8922372" cy="823608"/>
            <a:chOff x="0" y="0"/>
            <a:chExt cx="11896496" cy="10981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896494" cy="1098138"/>
            </a:xfrm>
            <a:custGeom>
              <a:avLst/>
              <a:gdLst/>
              <a:ahLst/>
              <a:cxnLst/>
              <a:rect r="r" b="b" t="t" l="l"/>
              <a:pathLst>
                <a:path h="1098138" w="11896494">
                  <a:moveTo>
                    <a:pt x="0" y="0"/>
                  </a:moveTo>
                  <a:lnTo>
                    <a:pt x="11896494" y="0"/>
                  </a:lnTo>
                  <a:lnTo>
                    <a:pt x="11896494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087" r="0" b="-16108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1896496" cy="1098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Building Secure, Scalable &amp; Intelligent Database Solutions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81382" y="1441304"/>
            <a:ext cx="6382931" cy="7343794"/>
            <a:chOff x="0" y="0"/>
            <a:chExt cx="8510575" cy="979172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510524" cy="9791700"/>
            </a:xfrm>
            <a:custGeom>
              <a:avLst/>
              <a:gdLst/>
              <a:ahLst/>
              <a:cxnLst/>
              <a:rect r="r" b="b" t="t" l="l"/>
              <a:pathLst>
                <a:path h="9791700" w="8510524">
                  <a:moveTo>
                    <a:pt x="0" y="1418463"/>
                  </a:moveTo>
                  <a:cubicBezTo>
                    <a:pt x="0" y="635127"/>
                    <a:pt x="635127" y="0"/>
                    <a:pt x="1418463" y="0"/>
                  </a:cubicBezTo>
                  <a:lnTo>
                    <a:pt x="7092061" y="0"/>
                  </a:lnTo>
                  <a:cubicBezTo>
                    <a:pt x="7875397" y="0"/>
                    <a:pt x="8510524" y="635127"/>
                    <a:pt x="8510524" y="1418463"/>
                  </a:cubicBezTo>
                  <a:lnTo>
                    <a:pt x="8510524" y="8373237"/>
                  </a:lnTo>
                  <a:cubicBezTo>
                    <a:pt x="8510524" y="9156700"/>
                    <a:pt x="7875524" y="9791700"/>
                    <a:pt x="7092061" y="9791700"/>
                  </a:cubicBezTo>
                  <a:lnTo>
                    <a:pt x="1418463" y="9791700"/>
                  </a:lnTo>
                  <a:cubicBezTo>
                    <a:pt x="635127" y="9791700"/>
                    <a:pt x="0" y="9156700"/>
                    <a:pt x="0" y="8373237"/>
                  </a:cubicBezTo>
                  <a:close/>
                </a:path>
              </a:pathLst>
            </a:custGeom>
            <a:solidFill>
              <a:srgbClr val="12306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736353" y="2059010"/>
            <a:ext cx="4941618" cy="617706"/>
            <a:chOff x="0" y="0"/>
            <a:chExt cx="6588823" cy="82360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588827" cy="823603"/>
            </a:xfrm>
            <a:custGeom>
              <a:avLst/>
              <a:gdLst/>
              <a:ahLst/>
              <a:cxnLst/>
              <a:rect r="r" b="b" t="t" l="l"/>
              <a:pathLst>
                <a:path h="823603" w="6588827">
                  <a:moveTo>
                    <a:pt x="0" y="0"/>
                  </a:moveTo>
                  <a:lnTo>
                    <a:pt x="6588827" y="0"/>
                  </a:lnTo>
                  <a:lnTo>
                    <a:pt x="6588827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79" r="0" b="-10588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6588823" cy="8140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 b="true">
                  <a:solidFill>
                    <a:srgbClr val="31B8E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SELECT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736353" y="2910068"/>
            <a:ext cx="4941618" cy="617706"/>
            <a:chOff x="0" y="0"/>
            <a:chExt cx="6588823" cy="82360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88827" cy="823603"/>
            </a:xfrm>
            <a:custGeom>
              <a:avLst/>
              <a:gdLst/>
              <a:ahLst/>
              <a:cxnLst/>
              <a:rect r="r" b="b" t="t" l="l"/>
              <a:pathLst>
                <a:path h="823603" w="6588827">
                  <a:moveTo>
                    <a:pt x="0" y="0"/>
                  </a:moveTo>
                  <a:lnTo>
                    <a:pt x="6588827" y="0"/>
                  </a:lnTo>
                  <a:lnTo>
                    <a:pt x="6588827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79" r="0" b="-10588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6588823" cy="8140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data, insights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736353" y="3761118"/>
            <a:ext cx="4941618" cy="617706"/>
            <a:chOff x="0" y="0"/>
            <a:chExt cx="6588823" cy="82360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588827" cy="823603"/>
            </a:xfrm>
            <a:custGeom>
              <a:avLst/>
              <a:gdLst/>
              <a:ahLst/>
              <a:cxnLst/>
              <a:rect r="r" b="b" t="t" l="l"/>
              <a:pathLst>
                <a:path h="823603" w="6588827">
                  <a:moveTo>
                    <a:pt x="0" y="0"/>
                  </a:moveTo>
                  <a:lnTo>
                    <a:pt x="6588827" y="0"/>
                  </a:lnTo>
                  <a:lnTo>
                    <a:pt x="6588827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79" r="0" b="-10588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6588823" cy="8140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 b="true">
                  <a:solidFill>
                    <a:srgbClr val="2AAE8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FROM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736353" y="4612176"/>
            <a:ext cx="4941618" cy="617706"/>
            <a:chOff x="0" y="0"/>
            <a:chExt cx="6588823" cy="82360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588827" cy="823603"/>
            </a:xfrm>
            <a:custGeom>
              <a:avLst/>
              <a:gdLst/>
              <a:ahLst/>
              <a:cxnLst/>
              <a:rect r="r" b="b" t="t" l="l"/>
              <a:pathLst>
                <a:path h="823603" w="6588827">
                  <a:moveTo>
                    <a:pt x="0" y="0"/>
                  </a:moveTo>
                  <a:lnTo>
                    <a:pt x="6588827" y="0"/>
                  </a:lnTo>
                  <a:lnTo>
                    <a:pt x="6588827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79" r="0" b="-10588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9525"/>
              <a:ext cx="6588823" cy="8140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modern_databases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736353" y="5463235"/>
            <a:ext cx="4941618" cy="617706"/>
            <a:chOff x="0" y="0"/>
            <a:chExt cx="6588823" cy="82360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588827" cy="823603"/>
            </a:xfrm>
            <a:custGeom>
              <a:avLst/>
              <a:gdLst/>
              <a:ahLst/>
              <a:cxnLst/>
              <a:rect r="r" b="b" t="t" l="l"/>
              <a:pathLst>
                <a:path h="823603" w="6588827">
                  <a:moveTo>
                    <a:pt x="0" y="0"/>
                  </a:moveTo>
                  <a:lnTo>
                    <a:pt x="6588827" y="0"/>
                  </a:lnTo>
                  <a:lnTo>
                    <a:pt x="6588827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79" r="0" b="-10588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6588823" cy="8140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 b="true">
                  <a:solidFill>
                    <a:srgbClr val="5758C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WHERE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736353" y="6314294"/>
            <a:ext cx="4941618" cy="617706"/>
            <a:chOff x="0" y="0"/>
            <a:chExt cx="6588823" cy="8236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588827" cy="823603"/>
            </a:xfrm>
            <a:custGeom>
              <a:avLst/>
              <a:gdLst/>
              <a:ahLst/>
              <a:cxnLst/>
              <a:rect r="r" b="b" t="t" l="l"/>
              <a:pathLst>
                <a:path h="823603" w="6588827">
                  <a:moveTo>
                    <a:pt x="0" y="0"/>
                  </a:moveTo>
                  <a:lnTo>
                    <a:pt x="6588827" y="0"/>
                  </a:lnTo>
                  <a:lnTo>
                    <a:pt x="6588827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79" r="0" b="-10588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9525"/>
              <a:ext cx="6588823" cy="8140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AI_enabled = 1;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324549" y="7343794"/>
            <a:ext cx="5627951" cy="686333"/>
            <a:chOff x="0" y="0"/>
            <a:chExt cx="7503935" cy="91511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503940" cy="915115"/>
            </a:xfrm>
            <a:custGeom>
              <a:avLst/>
              <a:gdLst/>
              <a:ahLst/>
              <a:cxnLst/>
              <a:rect r="r" b="b" t="t" l="l"/>
              <a:pathLst>
                <a:path h="915115" w="7503940">
                  <a:moveTo>
                    <a:pt x="0" y="0"/>
                  </a:moveTo>
                  <a:lnTo>
                    <a:pt x="7503940" y="0"/>
                  </a:lnTo>
                  <a:lnTo>
                    <a:pt x="7503940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9777" r="0" b="-10977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7503935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>
                  <a:solidFill>
                    <a:srgbClr val="CDE1F8"/>
                  </a:solidFill>
                  <a:latin typeface="Aptos"/>
                  <a:ea typeface="Aptos"/>
                  <a:cs typeface="Aptos"/>
                  <a:sym typeface="Aptos"/>
                </a:rPr>
                <a:t>Turning data into intelligent decisions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4118019" y="9196902"/>
            <a:ext cx="10020510" cy="617706"/>
            <a:chOff x="0" y="0"/>
            <a:chExt cx="13360679" cy="82360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360678" cy="823603"/>
            </a:xfrm>
            <a:custGeom>
              <a:avLst/>
              <a:gdLst/>
              <a:ahLst/>
              <a:cxnLst/>
              <a:rect r="r" b="b" t="t" l="l"/>
              <a:pathLst>
                <a:path h="823603" w="13360678">
                  <a:moveTo>
                    <a:pt x="0" y="0"/>
                  </a:moveTo>
                  <a:lnTo>
                    <a:pt x="13360678" y="0"/>
                  </a:lnTo>
                  <a:lnTo>
                    <a:pt x="13360678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6090" r="0" b="-26609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13360679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DCE8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Presented by Shruti Pawar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5F8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971" y="439255"/>
            <a:ext cx="16746607" cy="796147"/>
            <a:chOff x="0" y="0"/>
            <a:chExt cx="22328810" cy="10615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28805" cy="1061533"/>
            </a:xfrm>
            <a:custGeom>
              <a:avLst/>
              <a:gdLst/>
              <a:ahLst/>
              <a:cxnLst/>
              <a:rect r="r" b="b" t="t" l="l"/>
              <a:pathLst>
                <a:path h="1061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9857" r="0" b="-35985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2328810" cy="1061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A1C4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1. The Modern Data Challenge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96147" y="1249128"/>
            <a:ext cx="16472068" cy="686333"/>
            <a:chOff x="0" y="0"/>
            <a:chExt cx="21962758" cy="9151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62759" cy="915115"/>
            </a:xfrm>
            <a:custGeom>
              <a:avLst/>
              <a:gdLst/>
              <a:ahLst/>
              <a:cxnLst/>
              <a:rect r="r" b="b" t="t" l="l"/>
              <a:pathLst>
                <a:path h="915115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7641" r="0" b="-41764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1962758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62758E"/>
                  </a:solidFill>
                  <a:latin typeface="Aptos"/>
                  <a:ea typeface="Aptos"/>
                  <a:cs typeface="Aptos"/>
                  <a:sym typeface="Aptos"/>
                </a:rPr>
                <a:t>Applications need data that is reliable, secure, fast and increasingly AI-ready.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8324" y="2127647"/>
            <a:ext cx="713794" cy="713794"/>
            <a:chOff x="0" y="0"/>
            <a:chExt cx="951725" cy="9517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07AD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88324" y="2141372"/>
            <a:ext cx="713794" cy="658882"/>
            <a:chOff x="0" y="0"/>
            <a:chExt cx="951725" cy="8785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949196" y="2100186"/>
            <a:ext cx="3706216" cy="521618"/>
            <a:chOff x="0" y="0"/>
            <a:chExt cx="4941621" cy="6954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41620" cy="695487"/>
            </a:xfrm>
            <a:custGeom>
              <a:avLst/>
              <a:gdLst/>
              <a:ahLst/>
              <a:cxnLst/>
              <a:rect r="r" b="b" t="t" l="l"/>
              <a:pathLst>
                <a:path h="695487" w="4941620">
                  <a:moveTo>
                    <a:pt x="0" y="0"/>
                  </a:moveTo>
                  <a:lnTo>
                    <a:pt x="4941620" y="0"/>
                  </a:lnTo>
                  <a:lnTo>
                    <a:pt x="4941620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4941621" cy="705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2236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 Growth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90686" y="2100186"/>
            <a:ext cx="11118647" cy="754971"/>
            <a:chOff x="0" y="0"/>
            <a:chExt cx="14824862" cy="100662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824863" cy="1006626"/>
            </a:xfrm>
            <a:custGeom>
              <a:avLst/>
              <a:gdLst/>
              <a:ahLst/>
              <a:cxnLst/>
              <a:rect r="r" b="b" t="t" l="l"/>
              <a:pathLst>
                <a:path h="1006626" w="14824863">
                  <a:moveTo>
                    <a:pt x="0" y="0"/>
                  </a:moveTo>
                  <a:lnTo>
                    <a:pt x="14824863" y="0"/>
                  </a:lnTo>
                  <a:lnTo>
                    <a:pt x="14824863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961" r="0" b="-23696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4824862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62758E"/>
                  </a:solidFill>
                  <a:latin typeface="Aptos"/>
                  <a:ea typeface="Aptos"/>
                  <a:cs typeface="Aptos"/>
                  <a:sym typeface="Aptos"/>
                </a:rPr>
                <a:t>Large volumes of structured &amp; semi-structured data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88324" y="3390500"/>
            <a:ext cx="713794" cy="713794"/>
            <a:chOff x="0" y="0"/>
            <a:chExt cx="951725" cy="9517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AAE8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88324" y="3404225"/>
            <a:ext cx="713794" cy="658882"/>
            <a:chOff x="0" y="0"/>
            <a:chExt cx="951725" cy="87851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949196" y="3363049"/>
            <a:ext cx="3706216" cy="521618"/>
            <a:chOff x="0" y="0"/>
            <a:chExt cx="4941621" cy="69549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41620" cy="695487"/>
            </a:xfrm>
            <a:custGeom>
              <a:avLst/>
              <a:gdLst/>
              <a:ahLst/>
              <a:cxnLst/>
              <a:rect r="r" b="b" t="t" l="l"/>
              <a:pathLst>
                <a:path h="695487" w="4941620">
                  <a:moveTo>
                    <a:pt x="0" y="0"/>
                  </a:moveTo>
                  <a:lnTo>
                    <a:pt x="4941620" y="0"/>
                  </a:lnTo>
                  <a:lnTo>
                    <a:pt x="4941620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4941621" cy="705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2236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Complex Queries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490686" y="3363049"/>
            <a:ext cx="11118647" cy="754971"/>
            <a:chOff x="0" y="0"/>
            <a:chExt cx="14824862" cy="100662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824863" cy="1006626"/>
            </a:xfrm>
            <a:custGeom>
              <a:avLst/>
              <a:gdLst/>
              <a:ahLst/>
              <a:cxnLst/>
              <a:rect r="r" b="b" t="t" l="l"/>
              <a:pathLst>
                <a:path h="1006626" w="14824863">
                  <a:moveTo>
                    <a:pt x="0" y="0"/>
                  </a:moveTo>
                  <a:lnTo>
                    <a:pt x="14824863" y="0"/>
                  </a:lnTo>
                  <a:lnTo>
                    <a:pt x="14824863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961" r="0" b="-23696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4824862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62758E"/>
                  </a:solidFill>
                  <a:latin typeface="Aptos"/>
                  <a:ea typeface="Aptos"/>
                  <a:cs typeface="Aptos"/>
                  <a:sym typeface="Aptos"/>
                </a:rPr>
                <a:t>Advanced T-SQL, relationships and performance needs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88324" y="4653363"/>
            <a:ext cx="713794" cy="713794"/>
            <a:chOff x="0" y="0"/>
            <a:chExt cx="951725" cy="95172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5758CD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88324" y="4667088"/>
            <a:ext cx="713794" cy="658882"/>
            <a:chOff x="0" y="0"/>
            <a:chExt cx="951725" cy="87851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949196" y="4625902"/>
            <a:ext cx="3706216" cy="521618"/>
            <a:chOff x="0" y="0"/>
            <a:chExt cx="4941621" cy="69549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941620" cy="695487"/>
            </a:xfrm>
            <a:custGeom>
              <a:avLst/>
              <a:gdLst/>
              <a:ahLst/>
              <a:cxnLst/>
              <a:rect r="r" b="b" t="t" l="l"/>
              <a:pathLst>
                <a:path h="695487" w="4941620">
                  <a:moveTo>
                    <a:pt x="0" y="0"/>
                  </a:moveTo>
                  <a:lnTo>
                    <a:pt x="4941620" y="0"/>
                  </a:lnTo>
                  <a:lnTo>
                    <a:pt x="4941620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4941621" cy="705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2236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Security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490686" y="4625902"/>
            <a:ext cx="11118647" cy="754971"/>
            <a:chOff x="0" y="0"/>
            <a:chExt cx="14824862" cy="100662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824863" cy="1006626"/>
            </a:xfrm>
            <a:custGeom>
              <a:avLst/>
              <a:gdLst/>
              <a:ahLst/>
              <a:cxnLst/>
              <a:rect r="r" b="b" t="t" l="l"/>
              <a:pathLst>
                <a:path h="1006626" w="14824863">
                  <a:moveTo>
                    <a:pt x="0" y="0"/>
                  </a:moveTo>
                  <a:lnTo>
                    <a:pt x="14824863" y="0"/>
                  </a:lnTo>
                  <a:lnTo>
                    <a:pt x="14824863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961" r="0" b="-23696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14824862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62758E"/>
                  </a:solidFill>
                  <a:latin typeface="Aptos"/>
                  <a:ea typeface="Aptos"/>
                  <a:cs typeface="Aptos"/>
                  <a:sym typeface="Aptos"/>
                </a:rPr>
                <a:t>Protect sensitive data with strong access controls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88324" y="5916216"/>
            <a:ext cx="713794" cy="713794"/>
            <a:chOff x="0" y="0"/>
            <a:chExt cx="951725" cy="95172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31B8E8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88324" y="5929941"/>
            <a:ext cx="713794" cy="658882"/>
            <a:chOff x="0" y="0"/>
            <a:chExt cx="951725" cy="87851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949196" y="5888765"/>
            <a:ext cx="3706216" cy="521618"/>
            <a:chOff x="0" y="0"/>
            <a:chExt cx="4941621" cy="69549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941620" cy="695487"/>
            </a:xfrm>
            <a:custGeom>
              <a:avLst/>
              <a:gdLst/>
              <a:ahLst/>
              <a:cxnLst/>
              <a:rect r="r" b="b" t="t" l="l"/>
              <a:pathLst>
                <a:path h="695487" w="4941620">
                  <a:moveTo>
                    <a:pt x="0" y="0"/>
                  </a:moveTo>
                  <a:lnTo>
                    <a:pt x="4941620" y="0"/>
                  </a:lnTo>
                  <a:lnTo>
                    <a:pt x="4941620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4941621" cy="705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2236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 Integration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5490686" y="5888765"/>
            <a:ext cx="11118647" cy="754971"/>
            <a:chOff x="0" y="0"/>
            <a:chExt cx="14824862" cy="100662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824863" cy="1006626"/>
            </a:xfrm>
            <a:custGeom>
              <a:avLst/>
              <a:gdLst/>
              <a:ahLst/>
              <a:cxnLst/>
              <a:rect r="r" b="b" t="t" l="l"/>
              <a:pathLst>
                <a:path h="1006626" w="14824863">
                  <a:moveTo>
                    <a:pt x="0" y="0"/>
                  </a:moveTo>
                  <a:lnTo>
                    <a:pt x="14824863" y="0"/>
                  </a:lnTo>
                  <a:lnTo>
                    <a:pt x="14824863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961" r="0" b="-23696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14824862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62758E"/>
                  </a:solidFill>
                  <a:latin typeface="Aptos"/>
                  <a:ea typeface="Aptos"/>
                  <a:cs typeface="Aptos"/>
                  <a:sym typeface="Aptos"/>
                </a:rPr>
                <a:t>Bring vectors, embeddings and AI into database solutions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88324" y="7179078"/>
            <a:ext cx="713794" cy="713794"/>
            <a:chOff x="0" y="0"/>
            <a:chExt cx="951725" cy="95172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F5BE23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88324" y="7192804"/>
            <a:ext cx="713794" cy="658882"/>
            <a:chOff x="0" y="0"/>
            <a:chExt cx="951725" cy="87851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949196" y="7151627"/>
            <a:ext cx="3706216" cy="521618"/>
            <a:chOff x="0" y="0"/>
            <a:chExt cx="4941621" cy="69549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941620" cy="695487"/>
            </a:xfrm>
            <a:custGeom>
              <a:avLst/>
              <a:gdLst/>
              <a:ahLst/>
              <a:cxnLst/>
              <a:rect r="r" b="b" t="t" l="l"/>
              <a:pathLst>
                <a:path h="695487" w="4941620">
                  <a:moveTo>
                    <a:pt x="0" y="0"/>
                  </a:moveTo>
                  <a:lnTo>
                    <a:pt x="4941620" y="0"/>
                  </a:lnTo>
                  <a:lnTo>
                    <a:pt x="4941620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446" r="0" b="-8844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4941621" cy="705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2236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Delivery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490686" y="7151627"/>
            <a:ext cx="11118647" cy="754971"/>
            <a:chOff x="0" y="0"/>
            <a:chExt cx="14824862" cy="100662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824863" cy="1006626"/>
            </a:xfrm>
            <a:custGeom>
              <a:avLst/>
              <a:gdLst/>
              <a:ahLst/>
              <a:cxnLst/>
              <a:rect r="r" b="b" t="t" l="l"/>
              <a:pathLst>
                <a:path h="1006626" w="14824863">
                  <a:moveTo>
                    <a:pt x="0" y="0"/>
                  </a:moveTo>
                  <a:lnTo>
                    <a:pt x="14824863" y="0"/>
                  </a:lnTo>
                  <a:lnTo>
                    <a:pt x="14824863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6961" r="0" b="-23696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14824862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62758E"/>
                  </a:solidFill>
                  <a:latin typeface="Aptos"/>
                  <a:ea typeface="Aptos"/>
                  <a:cs typeface="Aptos"/>
                  <a:sym typeface="Aptos"/>
                </a:rPr>
                <a:t>Deploy safely with CI/CD and modern development practices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54971" y="8579206"/>
            <a:ext cx="16746607" cy="988324"/>
            <a:chOff x="0" y="0"/>
            <a:chExt cx="22328810" cy="131776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2328760" cy="1317752"/>
            </a:xfrm>
            <a:custGeom>
              <a:avLst/>
              <a:gdLst/>
              <a:ahLst/>
              <a:cxnLst/>
              <a:rect r="r" b="b" t="t" l="l"/>
              <a:pathLst>
                <a:path h="1317752" w="22328760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22109176" y="0"/>
                  </a:lnTo>
                  <a:cubicBezTo>
                    <a:pt x="22230462" y="0"/>
                    <a:pt x="22328760" y="98298"/>
                    <a:pt x="22328760" y="219583"/>
                  </a:cubicBezTo>
                  <a:lnTo>
                    <a:pt x="22328760" y="1098169"/>
                  </a:lnTo>
                  <a:cubicBezTo>
                    <a:pt x="22328760" y="1219454"/>
                    <a:pt x="22230462" y="1317752"/>
                    <a:pt x="22109176" y="1317752"/>
                  </a:cubicBezTo>
                  <a:lnTo>
                    <a:pt x="219583" y="1317752"/>
                  </a:lnTo>
                  <a:cubicBezTo>
                    <a:pt x="98298" y="1317752"/>
                    <a:pt x="0" y="1219454"/>
                    <a:pt x="0" y="1098169"/>
                  </a:cubicBezTo>
                  <a:close/>
                </a:path>
              </a:pathLst>
            </a:custGeom>
            <a:solidFill>
              <a:srgbClr val="0A1C43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098137" y="8689019"/>
            <a:ext cx="16060264" cy="617706"/>
            <a:chOff x="0" y="0"/>
            <a:chExt cx="21413686" cy="82360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1413690" cy="823603"/>
            </a:xfrm>
            <a:custGeom>
              <a:avLst/>
              <a:gdLst/>
              <a:ahLst/>
              <a:cxnLst/>
              <a:rect r="r" b="b" t="t" l="l"/>
              <a:pathLst>
                <a:path h="823603" w="21413690">
                  <a:moveTo>
                    <a:pt x="0" y="0"/>
                  </a:moveTo>
                  <a:lnTo>
                    <a:pt x="21413690" y="0"/>
                  </a:lnTo>
                  <a:lnTo>
                    <a:pt x="21413690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6610" r="0" b="-456611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21413686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goal: reliable data + intelligent capabilities + secure delivery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5F8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971" y="439255"/>
            <a:ext cx="16746607" cy="796147"/>
            <a:chOff x="0" y="0"/>
            <a:chExt cx="22328810" cy="10615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28805" cy="1061533"/>
            </a:xfrm>
            <a:custGeom>
              <a:avLst/>
              <a:gdLst/>
              <a:ahLst/>
              <a:cxnLst/>
              <a:rect r="r" b="b" t="t" l="l"/>
              <a:pathLst>
                <a:path h="1061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9857" r="0" b="-35985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2328810" cy="1061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A1C4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2. What is SQL AI Developer Associate?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96147" y="1249128"/>
            <a:ext cx="16472068" cy="686333"/>
            <a:chOff x="0" y="0"/>
            <a:chExt cx="21962758" cy="9151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62759" cy="915115"/>
            </a:xfrm>
            <a:custGeom>
              <a:avLst/>
              <a:gdLst/>
              <a:ahLst/>
              <a:cxnLst/>
              <a:rect r="r" b="b" t="t" l="l"/>
              <a:pathLst>
                <a:path h="915115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7641" r="0" b="-41764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1962758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62758E"/>
                  </a:solidFill>
                  <a:latin typeface="Aptos"/>
                  <a:ea typeface="Aptos"/>
                  <a:cs typeface="Aptos"/>
                  <a:sym typeface="Aptos"/>
                </a:rPr>
                <a:t>An intermediate Microsoft certification focused on AI-enabled database solutions across Microsoft SQL platforms.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85092" y="2257758"/>
            <a:ext cx="5161817" cy="4475483"/>
            <a:chOff x="0" y="0"/>
            <a:chExt cx="6882422" cy="59673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82384" cy="5967222"/>
            </a:xfrm>
            <a:custGeom>
              <a:avLst/>
              <a:gdLst/>
              <a:ahLst/>
              <a:cxnLst/>
              <a:rect r="r" b="b" t="t" l="l"/>
              <a:pathLst>
                <a:path h="5967222" w="6882384">
                  <a:moveTo>
                    <a:pt x="0" y="994537"/>
                  </a:moveTo>
                  <a:cubicBezTo>
                    <a:pt x="0" y="445262"/>
                    <a:pt x="445262" y="0"/>
                    <a:pt x="994537" y="0"/>
                  </a:cubicBezTo>
                  <a:lnTo>
                    <a:pt x="5887847" y="0"/>
                  </a:lnTo>
                  <a:cubicBezTo>
                    <a:pt x="6437122" y="0"/>
                    <a:pt x="6882384" y="445262"/>
                    <a:pt x="6882384" y="994537"/>
                  </a:cubicBezTo>
                  <a:lnTo>
                    <a:pt x="6882384" y="4972685"/>
                  </a:lnTo>
                  <a:cubicBezTo>
                    <a:pt x="6882384" y="5521960"/>
                    <a:pt x="6437122" y="5967222"/>
                    <a:pt x="5887847" y="5967222"/>
                  </a:cubicBezTo>
                  <a:lnTo>
                    <a:pt x="994537" y="5967222"/>
                  </a:lnTo>
                  <a:cubicBezTo>
                    <a:pt x="445262" y="5967349"/>
                    <a:pt x="0" y="5522087"/>
                    <a:pt x="0" y="4972685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5F1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39314" y="2553167"/>
            <a:ext cx="4653363" cy="713794"/>
            <a:chOff x="0" y="0"/>
            <a:chExt cx="6204483" cy="9517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204458" cy="951738"/>
            </a:xfrm>
            <a:custGeom>
              <a:avLst/>
              <a:gdLst/>
              <a:ahLst/>
              <a:cxnLst/>
              <a:rect r="r" b="b" t="t" l="l"/>
              <a:pathLst>
                <a:path h="951738" w="6204458">
                  <a:moveTo>
                    <a:pt x="0" y="158623"/>
                  </a:moveTo>
                  <a:cubicBezTo>
                    <a:pt x="0" y="70993"/>
                    <a:pt x="70993" y="0"/>
                    <a:pt x="158623" y="0"/>
                  </a:cubicBezTo>
                  <a:lnTo>
                    <a:pt x="6045835" y="0"/>
                  </a:lnTo>
                  <a:cubicBezTo>
                    <a:pt x="6133465" y="0"/>
                    <a:pt x="6204458" y="70993"/>
                    <a:pt x="6204458" y="158623"/>
                  </a:cubicBezTo>
                  <a:lnTo>
                    <a:pt x="6204458" y="793115"/>
                  </a:lnTo>
                  <a:cubicBezTo>
                    <a:pt x="6204458" y="880745"/>
                    <a:pt x="6133465" y="951738"/>
                    <a:pt x="6045835" y="951738"/>
                  </a:cubicBezTo>
                  <a:lnTo>
                    <a:pt x="158623" y="951738"/>
                  </a:lnTo>
                  <a:cubicBezTo>
                    <a:pt x="70993" y="951738"/>
                    <a:pt x="0" y="880745"/>
                    <a:pt x="0" y="793115"/>
                  </a:cubicBezTo>
                  <a:close/>
                </a:path>
              </a:pathLst>
            </a:custGeom>
            <a:solidFill>
              <a:srgbClr val="207AD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35402" y="2621804"/>
            <a:ext cx="4461186" cy="549069"/>
            <a:chOff x="0" y="0"/>
            <a:chExt cx="5948248" cy="7320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948247" cy="732092"/>
            </a:xfrm>
            <a:custGeom>
              <a:avLst/>
              <a:gdLst/>
              <a:ahLst/>
              <a:cxnLst/>
              <a:rect r="r" b="b" t="t" l="l"/>
              <a:pathLst>
                <a:path h="732092" w="5948247">
                  <a:moveTo>
                    <a:pt x="0" y="0"/>
                  </a:moveTo>
                  <a:lnTo>
                    <a:pt x="5948247" y="0"/>
                  </a:lnTo>
                  <a:lnTo>
                    <a:pt x="594824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5948248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DESIGN &amp; DEVELOP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04039" y="3774853"/>
            <a:ext cx="4323921" cy="1853108"/>
            <a:chOff x="0" y="0"/>
            <a:chExt cx="5765228" cy="24708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65224" cy="2470810"/>
            </a:xfrm>
            <a:custGeom>
              <a:avLst/>
              <a:gdLst/>
              <a:ahLst/>
              <a:cxnLst/>
              <a:rect r="r" b="b" t="t" l="l"/>
              <a:pathLst>
                <a:path h="2470810" w="5765224">
                  <a:moveTo>
                    <a:pt x="0" y="0"/>
                  </a:moveTo>
                  <a:lnTo>
                    <a:pt x="5765224" y="0"/>
                  </a:lnTo>
                  <a:lnTo>
                    <a:pt x="5765224" y="2470810"/>
                  </a:lnTo>
                  <a:lnTo>
                    <a:pt x="0" y="24708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5765228" cy="2470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236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Tables • Indexes • Views</a:t>
              </a:r>
            </a:p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236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Stored Procedures • T-SQL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622856" y="2257758"/>
            <a:ext cx="5161817" cy="4475483"/>
            <a:chOff x="0" y="0"/>
            <a:chExt cx="6882422" cy="59673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82384" cy="5967222"/>
            </a:xfrm>
            <a:custGeom>
              <a:avLst/>
              <a:gdLst/>
              <a:ahLst/>
              <a:cxnLst/>
              <a:rect r="r" b="b" t="t" l="l"/>
              <a:pathLst>
                <a:path h="5967222" w="6882384">
                  <a:moveTo>
                    <a:pt x="0" y="994537"/>
                  </a:moveTo>
                  <a:cubicBezTo>
                    <a:pt x="0" y="445262"/>
                    <a:pt x="445262" y="0"/>
                    <a:pt x="994537" y="0"/>
                  </a:cubicBezTo>
                  <a:lnTo>
                    <a:pt x="5887847" y="0"/>
                  </a:lnTo>
                  <a:cubicBezTo>
                    <a:pt x="6437122" y="0"/>
                    <a:pt x="6882384" y="445262"/>
                    <a:pt x="6882384" y="994537"/>
                  </a:cubicBezTo>
                  <a:lnTo>
                    <a:pt x="6882384" y="4972685"/>
                  </a:lnTo>
                  <a:cubicBezTo>
                    <a:pt x="6882384" y="5521960"/>
                    <a:pt x="6437122" y="5967222"/>
                    <a:pt x="5887847" y="5967222"/>
                  </a:cubicBezTo>
                  <a:lnTo>
                    <a:pt x="994537" y="5967222"/>
                  </a:lnTo>
                  <a:cubicBezTo>
                    <a:pt x="445262" y="5967349"/>
                    <a:pt x="0" y="5522087"/>
                    <a:pt x="0" y="4972685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5F1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877088" y="2553167"/>
            <a:ext cx="4653363" cy="713794"/>
            <a:chOff x="0" y="0"/>
            <a:chExt cx="6204483" cy="95172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04458" cy="951738"/>
            </a:xfrm>
            <a:custGeom>
              <a:avLst/>
              <a:gdLst/>
              <a:ahLst/>
              <a:cxnLst/>
              <a:rect r="r" b="b" t="t" l="l"/>
              <a:pathLst>
                <a:path h="951738" w="6204458">
                  <a:moveTo>
                    <a:pt x="0" y="158623"/>
                  </a:moveTo>
                  <a:cubicBezTo>
                    <a:pt x="0" y="70993"/>
                    <a:pt x="70993" y="0"/>
                    <a:pt x="158623" y="0"/>
                  </a:cubicBezTo>
                  <a:lnTo>
                    <a:pt x="6045835" y="0"/>
                  </a:lnTo>
                  <a:cubicBezTo>
                    <a:pt x="6133465" y="0"/>
                    <a:pt x="6204458" y="70993"/>
                    <a:pt x="6204458" y="158623"/>
                  </a:cubicBezTo>
                  <a:lnTo>
                    <a:pt x="6204458" y="793115"/>
                  </a:lnTo>
                  <a:cubicBezTo>
                    <a:pt x="6204458" y="880745"/>
                    <a:pt x="6133465" y="951738"/>
                    <a:pt x="6045835" y="951738"/>
                  </a:cubicBezTo>
                  <a:lnTo>
                    <a:pt x="158623" y="951738"/>
                  </a:lnTo>
                  <a:cubicBezTo>
                    <a:pt x="70993" y="951738"/>
                    <a:pt x="0" y="880745"/>
                    <a:pt x="0" y="793115"/>
                  </a:cubicBezTo>
                  <a:close/>
                </a:path>
              </a:pathLst>
            </a:custGeom>
            <a:solidFill>
              <a:srgbClr val="2AAE8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973176" y="2621804"/>
            <a:ext cx="4461186" cy="549069"/>
            <a:chOff x="0" y="0"/>
            <a:chExt cx="5948248" cy="7320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948247" cy="732092"/>
            </a:xfrm>
            <a:custGeom>
              <a:avLst/>
              <a:gdLst/>
              <a:ahLst/>
              <a:cxnLst/>
              <a:rect r="r" b="b" t="t" l="l"/>
              <a:pathLst>
                <a:path h="732092" w="5948247">
                  <a:moveTo>
                    <a:pt x="0" y="0"/>
                  </a:moveTo>
                  <a:lnTo>
                    <a:pt x="5948247" y="0"/>
                  </a:lnTo>
                  <a:lnTo>
                    <a:pt x="594824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5948248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SECURE &amp; OPTIMIZE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041813" y="3774853"/>
            <a:ext cx="4323921" cy="1853108"/>
            <a:chOff x="0" y="0"/>
            <a:chExt cx="5765228" cy="247081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65224" cy="2470810"/>
            </a:xfrm>
            <a:custGeom>
              <a:avLst/>
              <a:gdLst/>
              <a:ahLst/>
              <a:cxnLst/>
              <a:rect r="r" b="b" t="t" l="l"/>
              <a:pathLst>
                <a:path h="2470810" w="5765224">
                  <a:moveTo>
                    <a:pt x="0" y="0"/>
                  </a:moveTo>
                  <a:lnTo>
                    <a:pt x="5765224" y="0"/>
                  </a:lnTo>
                  <a:lnTo>
                    <a:pt x="5765224" y="2470810"/>
                  </a:lnTo>
                  <a:lnTo>
                    <a:pt x="0" y="24708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5765228" cy="2470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236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Encryption • RLS • Performance</a:t>
              </a:r>
            </a:p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236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Deployment • Monitoring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360631" y="2257758"/>
            <a:ext cx="5161817" cy="4475483"/>
            <a:chOff x="0" y="0"/>
            <a:chExt cx="6882422" cy="596731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882384" cy="5967222"/>
            </a:xfrm>
            <a:custGeom>
              <a:avLst/>
              <a:gdLst/>
              <a:ahLst/>
              <a:cxnLst/>
              <a:rect r="r" b="b" t="t" l="l"/>
              <a:pathLst>
                <a:path h="5967222" w="6882384">
                  <a:moveTo>
                    <a:pt x="0" y="994537"/>
                  </a:moveTo>
                  <a:cubicBezTo>
                    <a:pt x="0" y="445262"/>
                    <a:pt x="445262" y="0"/>
                    <a:pt x="994537" y="0"/>
                  </a:cubicBezTo>
                  <a:lnTo>
                    <a:pt x="5887847" y="0"/>
                  </a:lnTo>
                  <a:cubicBezTo>
                    <a:pt x="6437122" y="0"/>
                    <a:pt x="6882384" y="445262"/>
                    <a:pt x="6882384" y="994537"/>
                  </a:cubicBezTo>
                  <a:lnTo>
                    <a:pt x="6882384" y="4972685"/>
                  </a:lnTo>
                  <a:cubicBezTo>
                    <a:pt x="6882384" y="5521960"/>
                    <a:pt x="6437122" y="5967222"/>
                    <a:pt x="5887847" y="5967222"/>
                  </a:cubicBezTo>
                  <a:lnTo>
                    <a:pt x="994537" y="5967222"/>
                  </a:lnTo>
                  <a:cubicBezTo>
                    <a:pt x="445262" y="5967349"/>
                    <a:pt x="0" y="5522087"/>
                    <a:pt x="0" y="4972685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5F1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614862" y="2553167"/>
            <a:ext cx="4653363" cy="713794"/>
            <a:chOff x="0" y="0"/>
            <a:chExt cx="6204483" cy="95172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204458" cy="951738"/>
            </a:xfrm>
            <a:custGeom>
              <a:avLst/>
              <a:gdLst/>
              <a:ahLst/>
              <a:cxnLst/>
              <a:rect r="r" b="b" t="t" l="l"/>
              <a:pathLst>
                <a:path h="951738" w="6204458">
                  <a:moveTo>
                    <a:pt x="0" y="158623"/>
                  </a:moveTo>
                  <a:cubicBezTo>
                    <a:pt x="0" y="70993"/>
                    <a:pt x="70993" y="0"/>
                    <a:pt x="158623" y="0"/>
                  </a:cubicBezTo>
                  <a:lnTo>
                    <a:pt x="6045835" y="0"/>
                  </a:lnTo>
                  <a:cubicBezTo>
                    <a:pt x="6133465" y="0"/>
                    <a:pt x="6204458" y="70993"/>
                    <a:pt x="6204458" y="158623"/>
                  </a:cubicBezTo>
                  <a:lnTo>
                    <a:pt x="6204458" y="793115"/>
                  </a:lnTo>
                  <a:cubicBezTo>
                    <a:pt x="6204458" y="880745"/>
                    <a:pt x="6133465" y="951738"/>
                    <a:pt x="6045835" y="951738"/>
                  </a:cubicBezTo>
                  <a:lnTo>
                    <a:pt x="158623" y="951738"/>
                  </a:lnTo>
                  <a:cubicBezTo>
                    <a:pt x="70993" y="951738"/>
                    <a:pt x="0" y="880745"/>
                    <a:pt x="0" y="793115"/>
                  </a:cubicBezTo>
                  <a:close/>
                </a:path>
              </a:pathLst>
            </a:custGeom>
            <a:solidFill>
              <a:srgbClr val="5758CD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710951" y="2621804"/>
            <a:ext cx="4461186" cy="549069"/>
            <a:chOff x="0" y="0"/>
            <a:chExt cx="5948248" cy="7320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948247" cy="732092"/>
            </a:xfrm>
            <a:custGeom>
              <a:avLst/>
              <a:gdLst/>
              <a:ahLst/>
              <a:cxnLst/>
              <a:rect r="r" b="b" t="t" l="l"/>
              <a:pathLst>
                <a:path h="732092" w="5948247">
                  <a:moveTo>
                    <a:pt x="0" y="0"/>
                  </a:moveTo>
                  <a:lnTo>
                    <a:pt x="5948247" y="0"/>
                  </a:lnTo>
                  <a:lnTo>
                    <a:pt x="594824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5948248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IMPLEMENT AI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779578" y="3774853"/>
            <a:ext cx="4323921" cy="1853108"/>
            <a:chOff x="0" y="0"/>
            <a:chExt cx="5765228" cy="247081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765224" cy="2470810"/>
            </a:xfrm>
            <a:custGeom>
              <a:avLst/>
              <a:gdLst/>
              <a:ahLst/>
              <a:cxnLst/>
              <a:rect r="r" b="b" t="t" l="l"/>
              <a:pathLst>
                <a:path h="2470810" w="5765224">
                  <a:moveTo>
                    <a:pt x="0" y="0"/>
                  </a:moveTo>
                  <a:lnTo>
                    <a:pt x="5765224" y="0"/>
                  </a:lnTo>
                  <a:lnTo>
                    <a:pt x="5765224" y="2470810"/>
                  </a:lnTo>
                  <a:lnTo>
                    <a:pt x="0" y="24708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5765228" cy="2470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236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Embeddings • Vectors</a:t>
              </a:r>
            </a:p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236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Models • Intelligent Search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98137" y="7618333"/>
            <a:ext cx="16060264" cy="686333"/>
            <a:chOff x="0" y="0"/>
            <a:chExt cx="21413686" cy="91511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413690" cy="915115"/>
            </a:xfrm>
            <a:custGeom>
              <a:avLst/>
              <a:gdLst/>
              <a:ahLst/>
              <a:cxnLst/>
              <a:rect r="r" b="b" t="t" l="l"/>
              <a:pathLst>
                <a:path h="915115" w="21413690">
                  <a:moveTo>
                    <a:pt x="0" y="0"/>
                  </a:moveTo>
                  <a:lnTo>
                    <a:pt x="21413690" y="0"/>
                  </a:lnTo>
                  <a:lnTo>
                    <a:pt x="21413690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5950" r="0" b="-40594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21413686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0A1C4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Microsoft SQL Server  •  Azure SQL  •  SQL databases in Microsoft Fabric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41304" y="8345853"/>
            <a:ext cx="15373931" cy="754971"/>
            <a:chOff x="0" y="0"/>
            <a:chExt cx="20498575" cy="100662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0498575" cy="1006626"/>
            </a:xfrm>
            <a:custGeom>
              <a:avLst/>
              <a:gdLst/>
              <a:ahLst/>
              <a:cxnLst/>
              <a:rect r="r" b="b" t="t" l="l"/>
              <a:pathLst>
                <a:path h="1006626" w="20498575">
                  <a:moveTo>
                    <a:pt x="0" y="0"/>
                  </a:moveTo>
                  <a:lnTo>
                    <a:pt x="20498575" y="0"/>
                  </a:lnTo>
                  <a:lnTo>
                    <a:pt x="20498575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6786" r="0" b="-34678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20498575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>
                  <a:solidFill>
                    <a:srgbClr val="62758E"/>
                  </a:solidFill>
                  <a:latin typeface="Aptos"/>
                  <a:ea typeface="Aptos"/>
                  <a:cs typeface="Aptos"/>
                  <a:sym typeface="Aptos"/>
                </a:rPr>
                <a:t>The certification validates skills for building modern, secure and scalable data solutions with AI capabilities.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5F8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971" y="439255"/>
            <a:ext cx="16746607" cy="796147"/>
            <a:chOff x="0" y="0"/>
            <a:chExt cx="22328810" cy="10615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28805" cy="1061533"/>
            </a:xfrm>
            <a:custGeom>
              <a:avLst/>
              <a:gdLst/>
              <a:ahLst/>
              <a:cxnLst/>
              <a:rect r="r" b="b" t="t" l="l"/>
              <a:pathLst>
                <a:path h="1061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9857" r="0" b="-35985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2328810" cy="1061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A1C4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3. Core Technical Skills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96147" y="1249128"/>
            <a:ext cx="16472068" cy="686333"/>
            <a:chOff x="0" y="0"/>
            <a:chExt cx="21962758" cy="9151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62759" cy="915115"/>
            </a:xfrm>
            <a:custGeom>
              <a:avLst/>
              <a:gdLst/>
              <a:ahLst/>
              <a:cxnLst/>
              <a:rect r="r" b="b" t="t" l="l"/>
              <a:pathLst>
                <a:path h="915115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7641" r="0" b="-41764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1962758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62758E"/>
                  </a:solidFill>
                  <a:latin typeface="Aptos"/>
                  <a:ea typeface="Aptos"/>
                  <a:cs typeface="Aptos"/>
                  <a:sym typeface="Aptos"/>
                </a:rPr>
                <a:t>Key areas covered by the DP-800 certification.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85092" y="2120494"/>
            <a:ext cx="7838532" cy="1867405"/>
            <a:chOff x="0" y="0"/>
            <a:chExt cx="10451376" cy="24898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51465" cy="2489962"/>
            </a:xfrm>
            <a:custGeom>
              <a:avLst/>
              <a:gdLst/>
              <a:ahLst/>
              <a:cxnLst/>
              <a:rect r="r" b="b" t="t" l="l"/>
              <a:pathLst>
                <a:path h="2489962" w="10451465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10036429" y="0"/>
                  </a:lnTo>
                  <a:cubicBezTo>
                    <a:pt x="10265664" y="0"/>
                    <a:pt x="10451465" y="185801"/>
                    <a:pt x="10451465" y="415036"/>
                  </a:cubicBezTo>
                  <a:lnTo>
                    <a:pt x="10451465" y="2074926"/>
                  </a:lnTo>
                  <a:cubicBezTo>
                    <a:pt x="10451465" y="2304161"/>
                    <a:pt x="10265664" y="2489962"/>
                    <a:pt x="10036429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5F1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94225" y="2649255"/>
            <a:ext cx="713794" cy="713794"/>
            <a:chOff x="0" y="0"/>
            <a:chExt cx="951725" cy="9517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07AD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94225" y="2662980"/>
            <a:ext cx="713794" cy="658882"/>
            <a:chOff x="0" y="0"/>
            <a:chExt cx="951725" cy="8785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127647" y="2374725"/>
            <a:ext cx="6108392" cy="480431"/>
            <a:chOff x="0" y="0"/>
            <a:chExt cx="8144523" cy="6405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44523" cy="640580"/>
            </a:xfrm>
            <a:custGeom>
              <a:avLst/>
              <a:gdLst/>
              <a:ahLst/>
              <a:cxnLst/>
              <a:rect r="r" b="b" t="t" l="l"/>
              <a:pathLst>
                <a:path h="640580" w="8144523">
                  <a:moveTo>
                    <a:pt x="0" y="0"/>
                  </a:moveTo>
                  <a:lnTo>
                    <a:pt x="8144523" y="0"/>
                  </a:lnTo>
                  <a:lnTo>
                    <a:pt x="814452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7738" r="0" b="-19773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8144523" cy="65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2236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Database Design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127647" y="2923794"/>
            <a:ext cx="6108392" cy="754971"/>
            <a:chOff x="0" y="0"/>
            <a:chExt cx="8144523" cy="100662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44523" cy="1006626"/>
            </a:xfrm>
            <a:custGeom>
              <a:avLst/>
              <a:gdLst/>
              <a:ahLst/>
              <a:cxnLst/>
              <a:rect r="r" b="b" t="t" l="l"/>
              <a:pathLst>
                <a:path h="1006626" w="8144523">
                  <a:moveTo>
                    <a:pt x="0" y="0"/>
                  </a:moveTo>
                  <a:lnTo>
                    <a:pt x="8144523" y="0"/>
                  </a:lnTo>
                  <a:lnTo>
                    <a:pt x="8144523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7651" r="0" b="-10765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8144523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62758E"/>
                  </a:solidFill>
                  <a:latin typeface="Aptos"/>
                  <a:ea typeface="Aptos"/>
                  <a:cs typeface="Aptos"/>
                  <a:sym typeface="Aptos"/>
                </a:rPr>
                <a:t>Tables, constraints, indexes, partitioning, JSON, graph and specialized tables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27023" y="2120494"/>
            <a:ext cx="7838532" cy="1867405"/>
            <a:chOff x="0" y="0"/>
            <a:chExt cx="10451376" cy="248987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51465" cy="2489962"/>
            </a:xfrm>
            <a:custGeom>
              <a:avLst/>
              <a:gdLst/>
              <a:ahLst/>
              <a:cxnLst/>
              <a:rect r="r" b="b" t="t" l="l"/>
              <a:pathLst>
                <a:path h="2489962" w="10451465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10036429" y="0"/>
                  </a:lnTo>
                  <a:cubicBezTo>
                    <a:pt x="10265664" y="0"/>
                    <a:pt x="10451465" y="185801"/>
                    <a:pt x="10451465" y="415036"/>
                  </a:cubicBezTo>
                  <a:lnTo>
                    <a:pt x="10451465" y="2074926"/>
                  </a:lnTo>
                  <a:cubicBezTo>
                    <a:pt x="10451465" y="2304161"/>
                    <a:pt x="10265664" y="2489962"/>
                    <a:pt x="10036429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5F1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636157" y="2649255"/>
            <a:ext cx="713794" cy="713794"/>
            <a:chOff x="0" y="0"/>
            <a:chExt cx="951725" cy="95172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AAE8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36157" y="2662980"/>
            <a:ext cx="713794" cy="658882"/>
            <a:chOff x="0" y="0"/>
            <a:chExt cx="951725" cy="87851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569578" y="2374725"/>
            <a:ext cx="6108392" cy="480431"/>
            <a:chOff x="0" y="0"/>
            <a:chExt cx="8144523" cy="64057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44523" cy="640580"/>
            </a:xfrm>
            <a:custGeom>
              <a:avLst/>
              <a:gdLst/>
              <a:ahLst/>
              <a:cxnLst/>
              <a:rect r="r" b="b" t="t" l="l"/>
              <a:pathLst>
                <a:path h="640580" w="8144523">
                  <a:moveTo>
                    <a:pt x="0" y="0"/>
                  </a:moveTo>
                  <a:lnTo>
                    <a:pt x="8144523" y="0"/>
                  </a:lnTo>
                  <a:lnTo>
                    <a:pt x="814452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7738" r="0" b="-19773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8144523" cy="65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2236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Advanced T-SQL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569578" y="2923794"/>
            <a:ext cx="6108392" cy="754971"/>
            <a:chOff x="0" y="0"/>
            <a:chExt cx="8144523" cy="100662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44523" cy="1006626"/>
            </a:xfrm>
            <a:custGeom>
              <a:avLst/>
              <a:gdLst/>
              <a:ahLst/>
              <a:cxnLst/>
              <a:rect r="r" b="b" t="t" l="l"/>
              <a:pathLst>
                <a:path h="1006626" w="8144523">
                  <a:moveTo>
                    <a:pt x="0" y="0"/>
                  </a:moveTo>
                  <a:lnTo>
                    <a:pt x="8144523" y="0"/>
                  </a:lnTo>
                  <a:lnTo>
                    <a:pt x="8144523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7651" r="0" b="-10765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8144523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62758E"/>
                  </a:solidFill>
                  <a:latin typeface="Aptos"/>
                  <a:ea typeface="Aptos"/>
                  <a:cs typeface="Aptos"/>
                  <a:sym typeface="Aptos"/>
                </a:rPr>
                <a:t>CTEs, window functions, correlated queries, error handling and programmability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85092" y="4344219"/>
            <a:ext cx="7838532" cy="1867405"/>
            <a:chOff x="0" y="0"/>
            <a:chExt cx="10451376" cy="248987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451465" cy="2489962"/>
            </a:xfrm>
            <a:custGeom>
              <a:avLst/>
              <a:gdLst/>
              <a:ahLst/>
              <a:cxnLst/>
              <a:rect r="r" b="b" t="t" l="l"/>
              <a:pathLst>
                <a:path h="2489962" w="10451465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10036429" y="0"/>
                  </a:lnTo>
                  <a:cubicBezTo>
                    <a:pt x="10265664" y="0"/>
                    <a:pt x="10451465" y="185801"/>
                    <a:pt x="10451465" y="415036"/>
                  </a:cubicBezTo>
                  <a:lnTo>
                    <a:pt x="10451465" y="2074926"/>
                  </a:lnTo>
                  <a:cubicBezTo>
                    <a:pt x="10451465" y="2304161"/>
                    <a:pt x="10265664" y="2489962"/>
                    <a:pt x="10036429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5F1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194225" y="4872990"/>
            <a:ext cx="713794" cy="713794"/>
            <a:chOff x="0" y="0"/>
            <a:chExt cx="951725" cy="95172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5758CD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94225" y="4886716"/>
            <a:ext cx="713794" cy="658882"/>
            <a:chOff x="0" y="0"/>
            <a:chExt cx="951725" cy="87851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127647" y="4598451"/>
            <a:ext cx="6108392" cy="480431"/>
            <a:chOff x="0" y="0"/>
            <a:chExt cx="8144523" cy="64057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44523" cy="640580"/>
            </a:xfrm>
            <a:custGeom>
              <a:avLst/>
              <a:gdLst/>
              <a:ahLst/>
              <a:cxnLst/>
              <a:rect r="r" b="b" t="t" l="l"/>
              <a:pathLst>
                <a:path h="640580" w="8144523">
                  <a:moveTo>
                    <a:pt x="0" y="0"/>
                  </a:moveTo>
                  <a:lnTo>
                    <a:pt x="8144523" y="0"/>
                  </a:lnTo>
                  <a:lnTo>
                    <a:pt x="814452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7738" r="0" b="-19773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8144523" cy="65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2236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Security &amp; Compliance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127647" y="5147520"/>
            <a:ext cx="6108392" cy="754971"/>
            <a:chOff x="0" y="0"/>
            <a:chExt cx="8144523" cy="100662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44523" cy="1006626"/>
            </a:xfrm>
            <a:custGeom>
              <a:avLst/>
              <a:gdLst/>
              <a:ahLst/>
              <a:cxnLst/>
              <a:rect r="r" b="b" t="t" l="l"/>
              <a:pathLst>
                <a:path h="1006626" w="8144523">
                  <a:moveTo>
                    <a:pt x="0" y="0"/>
                  </a:moveTo>
                  <a:lnTo>
                    <a:pt x="8144523" y="0"/>
                  </a:lnTo>
                  <a:lnTo>
                    <a:pt x="8144523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7651" r="0" b="-10765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8144523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62758E"/>
                  </a:solidFill>
                  <a:latin typeface="Aptos"/>
                  <a:ea typeface="Aptos"/>
                  <a:cs typeface="Aptos"/>
                  <a:sym typeface="Aptos"/>
                </a:rPr>
                <a:t>Encryption, Dynamic Data Masking, Row-Level Security and permissions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327023" y="4344219"/>
            <a:ext cx="7838532" cy="1867405"/>
            <a:chOff x="0" y="0"/>
            <a:chExt cx="10451376" cy="248987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451465" cy="2489962"/>
            </a:xfrm>
            <a:custGeom>
              <a:avLst/>
              <a:gdLst/>
              <a:ahLst/>
              <a:cxnLst/>
              <a:rect r="r" b="b" t="t" l="l"/>
              <a:pathLst>
                <a:path h="2489962" w="10451465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10036429" y="0"/>
                  </a:lnTo>
                  <a:cubicBezTo>
                    <a:pt x="10265664" y="0"/>
                    <a:pt x="10451465" y="185801"/>
                    <a:pt x="10451465" y="415036"/>
                  </a:cubicBezTo>
                  <a:lnTo>
                    <a:pt x="10451465" y="2074926"/>
                  </a:lnTo>
                  <a:cubicBezTo>
                    <a:pt x="10451465" y="2304161"/>
                    <a:pt x="10265664" y="2489962"/>
                    <a:pt x="10036429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5F1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9636157" y="4872990"/>
            <a:ext cx="713794" cy="713794"/>
            <a:chOff x="0" y="0"/>
            <a:chExt cx="951725" cy="95172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31B8E8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636157" y="4886716"/>
            <a:ext cx="713794" cy="658882"/>
            <a:chOff x="0" y="0"/>
            <a:chExt cx="951725" cy="87851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569578" y="4598451"/>
            <a:ext cx="6108392" cy="480431"/>
            <a:chOff x="0" y="0"/>
            <a:chExt cx="8144523" cy="64057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44523" cy="640580"/>
            </a:xfrm>
            <a:custGeom>
              <a:avLst/>
              <a:gdLst/>
              <a:ahLst/>
              <a:cxnLst/>
              <a:rect r="r" b="b" t="t" l="l"/>
              <a:pathLst>
                <a:path h="640580" w="8144523">
                  <a:moveTo>
                    <a:pt x="0" y="0"/>
                  </a:moveTo>
                  <a:lnTo>
                    <a:pt x="8144523" y="0"/>
                  </a:lnTo>
                  <a:lnTo>
                    <a:pt x="814452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7738" r="0" b="-19773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8144523" cy="65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2236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Performance &amp; Deployment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569578" y="5147520"/>
            <a:ext cx="6108392" cy="754971"/>
            <a:chOff x="0" y="0"/>
            <a:chExt cx="8144523" cy="100662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44523" cy="1006626"/>
            </a:xfrm>
            <a:custGeom>
              <a:avLst/>
              <a:gdLst/>
              <a:ahLst/>
              <a:cxnLst/>
              <a:rect r="r" b="b" t="t" l="l"/>
              <a:pathLst>
                <a:path h="1006626" w="8144523">
                  <a:moveTo>
                    <a:pt x="0" y="0"/>
                  </a:moveTo>
                  <a:lnTo>
                    <a:pt x="8144523" y="0"/>
                  </a:lnTo>
                  <a:lnTo>
                    <a:pt x="8144523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7651" r="0" b="-10765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8144523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62758E"/>
                  </a:solidFill>
                  <a:latin typeface="Aptos"/>
                  <a:ea typeface="Aptos"/>
                  <a:cs typeface="Aptos"/>
                  <a:sym typeface="Aptos"/>
                </a:rPr>
                <a:t>Optimization, monitoring, CI/CD and secure deployment practices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85092" y="6567954"/>
            <a:ext cx="7838532" cy="1867405"/>
            <a:chOff x="0" y="0"/>
            <a:chExt cx="10451376" cy="248987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451465" cy="2489962"/>
            </a:xfrm>
            <a:custGeom>
              <a:avLst/>
              <a:gdLst/>
              <a:ahLst/>
              <a:cxnLst/>
              <a:rect r="r" b="b" t="t" l="l"/>
              <a:pathLst>
                <a:path h="2489962" w="10451465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10036429" y="0"/>
                  </a:lnTo>
                  <a:cubicBezTo>
                    <a:pt x="10265664" y="0"/>
                    <a:pt x="10451465" y="185801"/>
                    <a:pt x="10451465" y="415036"/>
                  </a:cubicBezTo>
                  <a:lnTo>
                    <a:pt x="10451465" y="2074926"/>
                  </a:lnTo>
                  <a:cubicBezTo>
                    <a:pt x="10451465" y="2304161"/>
                    <a:pt x="10265664" y="2489962"/>
                    <a:pt x="10036429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5F1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194225" y="7096716"/>
            <a:ext cx="713794" cy="713794"/>
            <a:chOff x="0" y="0"/>
            <a:chExt cx="951725" cy="95172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F5BE23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194225" y="7110441"/>
            <a:ext cx="713794" cy="658882"/>
            <a:chOff x="0" y="0"/>
            <a:chExt cx="951725" cy="87851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2127647" y="6822186"/>
            <a:ext cx="6108392" cy="480431"/>
            <a:chOff x="0" y="0"/>
            <a:chExt cx="8144523" cy="64057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144523" cy="640580"/>
            </a:xfrm>
            <a:custGeom>
              <a:avLst/>
              <a:gdLst/>
              <a:ahLst/>
              <a:cxnLst/>
              <a:rect r="r" b="b" t="t" l="l"/>
              <a:pathLst>
                <a:path h="640580" w="8144523">
                  <a:moveTo>
                    <a:pt x="0" y="0"/>
                  </a:moveTo>
                  <a:lnTo>
                    <a:pt x="8144523" y="0"/>
                  </a:lnTo>
                  <a:lnTo>
                    <a:pt x="814452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7738" r="0" b="-19773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8144523" cy="65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2236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AI-Assisted Development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2127647" y="7371255"/>
            <a:ext cx="6108392" cy="754971"/>
            <a:chOff x="0" y="0"/>
            <a:chExt cx="8144523" cy="1006627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144523" cy="1006626"/>
            </a:xfrm>
            <a:custGeom>
              <a:avLst/>
              <a:gdLst/>
              <a:ahLst/>
              <a:cxnLst/>
              <a:rect r="r" b="b" t="t" l="l"/>
              <a:pathLst>
                <a:path h="1006626" w="8144523">
                  <a:moveTo>
                    <a:pt x="0" y="0"/>
                  </a:moveTo>
                  <a:lnTo>
                    <a:pt x="8144523" y="0"/>
                  </a:lnTo>
                  <a:lnTo>
                    <a:pt x="8144523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7651" r="0" b="-107651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8144523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62758E"/>
                  </a:solidFill>
                  <a:latin typeface="Aptos"/>
                  <a:ea typeface="Aptos"/>
                  <a:cs typeface="Aptos"/>
                  <a:sym typeface="Aptos"/>
                </a:rPr>
                <a:t>Copilot, AI-assisted tools and secure development workflows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327023" y="6567954"/>
            <a:ext cx="7838532" cy="1867405"/>
            <a:chOff x="0" y="0"/>
            <a:chExt cx="10451376" cy="2489873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451465" cy="2489962"/>
            </a:xfrm>
            <a:custGeom>
              <a:avLst/>
              <a:gdLst/>
              <a:ahLst/>
              <a:cxnLst/>
              <a:rect r="r" b="b" t="t" l="l"/>
              <a:pathLst>
                <a:path h="2489962" w="10451465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10036429" y="0"/>
                  </a:lnTo>
                  <a:cubicBezTo>
                    <a:pt x="10265664" y="0"/>
                    <a:pt x="10451465" y="185801"/>
                    <a:pt x="10451465" y="415036"/>
                  </a:cubicBezTo>
                  <a:lnTo>
                    <a:pt x="10451465" y="2074926"/>
                  </a:lnTo>
                  <a:cubicBezTo>
                    <a:pt x="10451465" y="2304161"/>
                    <a:pt x="10265664" y="2489962"/>
                    <a:pt x="10036429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5F1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9636157" y="7096716"/>
            <a:ext cx="713794" cy="713794"/>
            <a:chOff x="0" y="0"/>
            <a:chExt cx="951725" cy="95172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07AD6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9636157" y="7110441"/>
            <a:ext cx="713794" cy="658882"/>
            <a:chOff x="0" y="0"/>
            <a:chExt cx="951725" cy="87851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569578" y="6822186"/>
            <a:ext cx="6108392" cy="480431"/>
            <a:chOff x="0" y="0"/>
            <a:chExt cx="8144523" cy="64057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144523" cy="640580"/>
            </a:xfrm>
            <a:custGeom>
              <a:avLst/>
              <a:gdLst/>
              <a:ahLst/>
              <a:cxnLst/>
              <a:rect r="r" b="b" t="t" l="l"/>
              <a:pathLst>
                <a:path h="640580" w="8144523">
                  <a:moveTo>
                    <a:pt x="0" y="0"/>
                  </a:moveTo>
                  <a:lnTo>
                    <a:pt x="8144523" y="0"/>
                  </a:lnTo>
                  <a:lnTo>
                    <a:pt x="814452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7738" r="0" b="-197737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9525"/>
              <a:ext cx="8144523" cy="65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2236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 Data Capabilities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0569578" y="7371255"/>
            <a:ext cx="6108392" cy="754971"/>
            <a:chOff x="0" y="0"/>
            <a:chExt cx="8144523" cy="1006627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144523" cy="1006626"/>
            </a:xfrm>
            <a:custGeom>
              <a:avLst/>
              <a:gdLst/>
              <a:ahLst/>
              <a:cxnLst/>
              <a:rect r="r" b="b" t="t" l="l"/>
              <a:pathLst>
                <a:path h="1006626" w="8144523">
                  <a:moveTo>
                    <a:pt x="0" y="0"/>
                  </a:moveTo>
                  <a:lnTo>
                    <a:pt x="8144523" y="0"/>
                  </a:lnTo>
                  <a:lnTo>
                    <a:pt x="8144523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7651" r="0" b="-10765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8144523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62758E"/>
                  </a:solidFill>
                  <a:latin typeface="Aptos"/>
                  <a:ea typeface="Aptos"/>
                  <a:cs typeface="Aptos"/>
                  <a:sym typeface="Aptos"/>
                </a:rPr>
                <a:t>Vectors, embeddings, models and intelligent search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5F8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971" y="439255"/>
            <a:ext cx="16746607" cy="796147"/>
            <a:chOff x="0" y="0"/>
            <a:chExt cx="22328810" cy="10615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28805" cy="1061533"/>
            </a:xfrm>
            <a:custGeom>
              <a:avLst/>
              <a:gdLst/>
              <a:ahLst/>
              <a:cxnLst/>
              <a:rect r="r" b="b" t="t" l="l"/>
              <a:pathLst>
                <a:path h="1061533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9857" r="0" b="-35985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2328810" cy="1061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A1C4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4. From SQL Data to AI Insights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96147" y="1249128"/>
            <a:ext cx="16472068" cy="686333"/>
            <a:chOff x="0" y="0"/>
            <a:chExt cx="21962758" cy="9151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62759" cy="915115"/>
            </a:xfrm>
            <a:custGeom>
              <a:avLst/>
              <a:gdLst/>
              <a:ahLst/>
              <a:cxnLst/>
              <a:rect r="r" b="b" t="t" l="l"/>
              <a:pathLst>
                <a:path h="915115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7641" r="0" b="-41764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1962758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62758E"/>
                  </a:solidFill>
                  <a:latin typeface="Aptos"/>
                  <a:ea typeface="Aptos"/>
                  <a:cs typeface="Aptos"/>
                  <a:sym typeface="Aptos"/>
                </a:rPr>
                <a:t>A modern workflow connects trusted data, secure databases and AI capabilities.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57020" y="2264912"/>
            <a:ext cx="713794" cy="713794"/>
            <a:chOff x="0" y="0"/>
            <a:chExt cx="951725" cy="9517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07AD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57020" y="2278637"/>
            <a:ext cx="713794" cy="658882"/>
            <a:chOff x="0" y="0"/>
            <a:chExt cx="951725" cy="8785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54971" y="3225784"/>
            <a:ext cx="2745343" cy="549069"/>
            <a:chOff x="0" y="0"/>
            <a:chExt cx="3660458" cy="7320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60460" cy="732092"/>
            </a:xfrm>
            <a:custGeom>
              <a:avLst/>
              <a:gdLst/>
              <a:ahLst/>
              <a:cxnLst/>
              <a:rect r="r" b="b" t="t" l="l"/>
              <a:pathLst>
                <a:path h="732092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3660458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2236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Design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3608" y="3884666"/>
            <a:ext cx="2608078" cy="1372676"/>
            <a:chOff x="0" y="0"/>
            <a:chExt cx="3477438" cy="1830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77437" cy="1830230"/>
            </a:xfrm>
            <a:custGeom>
              <a:avLst/>
              <a:gdLst/>
              <a:ahLst/>
              <a:cxnLst/>
              <a:rect r="r" b="b" t="t" l="l"/>
              <a:pathLst>
                <a:path h="1830230" w="3477437">
                  <a:moveTo>
                    <a:pt x="0" y="0"/>
                  </a:moveTo>
                  <a:lnTo>
                    <a:pt x="3477437" y="0"/>
                  </a:lnTo>
                  <a:lnTo>
                    <a:pt x="3477437" y="1830230"/>
                  </a:lnTo>
                  <a:lnTo>
                    <a:pt x="0" y="18302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528" t="0" r="-17528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3477438" cy="1830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62758E"/>
                  </a:solidFill>
                  <a:latin typeface="Aptos"/>
                  <a:ea typeface="Aptos"/>
                  <a:cs typeface="Aptos"/>
                  <a:sym typeface="Aptos"/>
                </a:rPr>
                <a:t>Create robust database objects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612176" y="2264912"/>
            <a:ext cx="713794" cy="713794"/>
            <a:chOff x="0" y="0"/>
            <a:chExt cx="951725" cy="9517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AAE8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612176" y="2278637"/>
            <a:ext cx="713794" cy="658882"/>
            <a:chOff x="0" y="0"/>
            <a:chExt cx="951725" cy="87851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610127" y="3225784"/>
            <a:ext cx="2745343" cy="549069"/>
            <a:chOff x="0" y="0"/>
            <a:chExt cx="3660458" cy="7320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60460" cy="732092"/>
            </a:xfrm>
            <a:custGeom>
              <a:avLst/>
              <a:gdLst/>
              <a:ahLst/>
              <a:cxnLst/>
              <a:rect r="r" b="b" t="t" l="l"/>
              <a:pathLst>
                <a:path h="732092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660458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2236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Query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678765" y="3884666"/>
            <a:ext cx="2608078" cy="1372676"/>
            <a:chOff x="0" y="0"/>
            <a:chExt cx="3477438" cy="183023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477437" cy="1830230"/>
            </a:xfrm>
            <a:custGeom>
              <a:avLst/>
              <a:gdLst/>
              <a:ahLst/>
              <a:cxnLst/>
              <a:rect r="r" b="b" t="t" l="l"/>
              <a:pathLst>
                <a:path h="1830230" w="3477437">
                  <a:moveTo>
                    <a:pt x="0" y="0"/>
                  </a:moveTo>
                  <a:lnTo>
                    <a:pt x="3477437" y="0"/>
                  </a:lnTo>
                  <a:lnTo>
                    <a:pt x="3477437" y="1830230"/>
                  </a:lnTo>
                  <a:lnTo>
                    <a:pt x="0" y="18302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528" t="0" r="-17528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477438" cy="1830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62758E"/>
                  </a:solidFill>
                  <a:latin typeface="Aptos"/>
                  <a:ea typeface="Aptos"/>
                  <a:cs typeface="Aptos"/>
                  <a:sym typeface="Aptos"/>
                </a:rPr>
                <a:t>Use T-SQL to transform &amp; analyze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467333" y="2264912"/>
            <a:ext cx="713794" cy="713794"/>
            <a:chOff x="0" y="0"/>
            <a:chExt cx="951725" cy="95172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5758CD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467333" y="2278637"/>
            <a:ext cx="713794" cy="658882"/>
            <a:chOff x="0" y="0"/>
            <a:chExt cx="951725" cy="87851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465284" y="3225784"/>
            <a:ext cx="2745343" cy="549069"/>
            <a:chOff x="0" y="0"/>
            <a:chExt cx="3660458" cy="7320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660460" cy="732092"/>
            </a:xfrm>
            <a:custGeom>
              <a:avLst/>
              <a:gdLst/>
              <a:ahLst/>
              <a:cxnLst/>
              <a:rect r="r" b="b" t="t" l="l"/>
              <a:pathLst>
                <a:path h="732092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3660458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2236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Secure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533921" y="3884666"/>
            <a:ext cx="2608078" cy="1372676"/>
            <a:chOff x="0" y="0"/>
            <a:chExt cx="3477438" cy="183023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477437" cy="1830230"/>
            </a:xfrm>
            <a:custGeom>
              <a:avLst/>
              <a:gdLst/>
              <a:ahLst/>
              <a:cxnLst/>
              <a:rect r="r" b="b" t="t" l="l"/>
              <a:pathLst>
                <a:path h="1830230" w="3477437">
                  <a:moveTo>
                    <a:pt x="0" y="0"/>
                  </a:moveTo>
                  <a:lnTo>
                    <a:pt x="3477437" y="0"/>
                  </a:lnTo>
                  <a:lnTo>
                    <a:pt x="3477437" y="1830230"/>
                  </a:lnTo>
                  <a:lnTo>
                    <a:pt x="0" y="18302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528" t="0" r="-17528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3477438" cy="1830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62758E"/>
                  </a:solidFill>
                  <a:latin typeface="Aptos"/>
                  <a:ea typeface="Aptos"/>
                  <a:cs typeface="Aptos"/>
                  <a:sym typeface="Aptos"/>
                </a:rPr>
                <a:t>Protect data &amp; control access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322500" y="2264912"/>
            <a:ext cx="713794" cy="713794"/>
            <a:chOff x="0" y="0"/>
            <a:chExt cx="951725" cy="95172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31B8E8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322500" y="2278637"/>
            <a:ext cx="713794" cy="658882"/>
            <a:chOff x="0" y="0"/>
            <a:chExt cx="951725" cy="87851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320441" y="3225784"/>
            <a:ext cx="2745343" cy="549069"/>
            <a:chOff x="0" y="0"/>
            <a:chExt cx="3660458" cy="7320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660460" cy="732092"/>
            </a:xfrm>
            <a:custGeom>
              <a:avLst/>
              <a:gdLst/>
              <a:ahLst/>
              <a:cxnLst/>
              <a:rect r="r" b="b" t="t" l="l"/>
              <a:pathLst>
                <a:path h="732092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660458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2236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Optimize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389078" y="3884666"/>
            <a:ext cx="2608078" cy="1372676"/>
            <a:chOff x="0" y="0"/>
            <a:chExt cx="3477438" cy="183023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477437" cy="1830230"/>
            </a:xfrm>
            <a:custGeom>
              <a:avLst/>
              <a:gdLst/>
              <a:ahLst/>
              <a:cxnLst/>
              <a:rect r="r" b="b" t="t" l="l"/>
              <a:pathLst>
                <a:path h="1830230" w="3477437">
                  <a:moveTo>
                    <a:pt x="0" y="0"/>
                  </a:moveTo>
                  <a:lnTo>
                    <a:pt x="3477437" y="0"/>
                  </a:lnTo>
                  <a:lnTo>
                    <a:pt x="3477437" y="1830230"/>
                  </a:lnTo>
                  <a:lnTo>
                    <a:pt x="0" y="18302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528" t="0" r="-17528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3477438" cy="1830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62758E"/>
                  </a:solidFill>
                  <a:latin typeface="Aptos"/>
                  <a:ea typeface="Aptos"/>
                  <a:cs typeface="Aptos"/>
                  <a:sym typeface="Aptos"/>
                </a:rPr>
                <a:t>Tune performance &amp; reliability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177657" y="2264912"/>
            <a:ext cx="713794" cy="713794"/>
            <a:chOff x="0" y="0"/>
            <a:chExt cx="951725" cy="95172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F5BE23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3177657" y="2278637"/>
            <a:ext cx="713794" cy="658882"/>
            <a:chOff x="0" y="0"/>
            <a:chExt cx="951725" cy="87851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175607" y="3225784"/>
            <a:ext cx="2745343" cy="549069"/>
            <a:chOff x="0" y="0"/>
            <a:chExt cx="3660458" cy="7320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660460" cy="732092"/>
            </a:xfrm>
            <a:custGeom>
              <a:avLst/>
              <a:gdLst/>
              <a:ahLst/>
              <a:cxnLst/>
              <a:rect r="r" b="b" t="t" l="l"/>
              <a:pathLst>
                <a:path h="732092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3660458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2236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244235" y="3884666"/>
            <a:ext cx="2608078" cy="1372676"/>
            <a:chOff x="0" y="0"/>
            <a:chExt cx="3477438" cy="183023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477437" cy="1830230"/>
            </a:xfrm>
            <a:custGeom>
              <a:avLst/>
              <a:gdLst/>
              <a:ahLst/>
              <a:cxnLst/>
              <a:rect r="r" b="b" t="t" l="l"/>
              <a:pathLst>
                <a:path h="1830230" w="3477437">
                  <a:moveTo>
                    <a:pt x="0" y="0"/>
                  </a:moveTo>
                  <a:lnTo>
                    <a:pt x="3477437" y="0"/>
                  </a:lnTo>
                  <a:lnTo>
                    <a:pt x="3477437" y="1830230"/>
                  </a:lnTo>
                  <a:lnTo>
                    <a:pt x="0" y="18302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528" t="0" r="-17528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477438" cy="1830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62758E"/>
                  </a:solidFill>
                  <a:latin typeface="Aptos"/>
                  <a:ea typeface="Aptos"/>
                  <a:cs typeface="Aptos"/>
                  <a:sym typeface="Aptos"/>
                </a:rPr>
                <a:t>Use embeddings, vectors &amp; models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6032813" y="2264912"/>
            <a:ext cx="713794" cy="713794"/>
            <a:chOff x="0" y="0"/>
            <a:chExt cx="951725" cy="95172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07AD6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6032813" y="2278637"/>
            <a:ext cx="713794" cy="658882"/>
            <a:chOff x="0" y="0"/>
            <a:chExt cx="951725" cy="87851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5030764" y="3225784"/>
            <a:ext cx="2745343" cy="549069"/>
            <a:chOff x="0" y="0"/>
            <a:chExt cx="3660458" cy="73209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660460" cy="732092"/>
            </a:xfrm>
            <a:custGeom>
              <a:avLst/>
              <a:gdLst/>
              <a:ahLst/>
              <a:cxnLst/>
              <a:rect r="r" b="b" t="t" l="l"/>
              <a:pathLst>
                <a:path h="732092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660458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2236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Deliver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5099392" y="3884666"/>
            <a:ext cx="2608078" cy="1372676"/>
            <a:chOff x="0" y="0"/>
            <a:chExt cx="3477438" cy="183023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477437" cy="1830230"/>
            </a:xfrm>
            <a:custGeom>
              <a:avLst/>
              <a:gdLst/>
              <a:ahLst/>
              <a:cxnLst/>
              <a:rect r="r" b="b" t="t" l="l"/>
              <a:pathLst>
                <a:path h="1830230" w="3477437">
                  <a:moveTo>
                    <a:pt x="0" y="0"/>
                  </a:moveTo>
                  <a:lnTo>
                    <a:pt x="3477437" y="0"/>
                  </a:lnTo>
                  <a:lnTo>
                    <a:pt x="3477437" y="1830230"/>
                  </a:lnTo>
                  <a:lnTo>
                    <a:pt x="0" y="18302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528" t="0" r="-17528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3477438" cy="1830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1"/>
                </a:lnSpc>
              </a:pPr>
              <a:r>
                <a:rPr lang="en-US" sz="1576">
                  <a:solidFill>
                    <a:srgbClr val="62758E"/>
                  </a:solidFill>
                  <a:latin typeface="Aptos"/>
                  <a:ea typeface="Aptos"/>
                  <a:cs typeface="Aptos"/>
                  <a:sym typeface="Aptos"/>
                </a:rPr>
                <a:t>Deploy with CI/CD &amp; monitor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754971" y="6245657"/>
            <a:ext cx="16746607" cy="2608078"/>
            <a:chOff x="0" y="0"/>
            <a:chExt cx="22328810" cy="347743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2328887" cy="3477514"/>
            </a:xfrm>
            <a:custGeom>
              <a:avLst/>
              <a:gdLst/>
              <a:ahLst/>
              <a:cxnLst/>
              <a:rect r="r" b="b" t="t" l="l"/>
              <a:pathLst>
                <a:path h="3477514" w="22328887">
                  <a:moveTo>
                    <a:pt x="0" y="579628"/>
                  </a:moveTo>
                  <a:cubicBezTo>
                    <a:pt x="0" y="259461"/>
                    <a:pt x="259461" y="0"/>
                    <a:pt x="579628" y="0"/>
                  </a:cubicBezTo>
                  <a:lnTo>
                    <a:pt x="21749258" y="0"/>
                  </a:lnTo>
                  <a:cubicBezTo>
                    <a:pt x="22069298" y="0"/>
                    <a:pt x="22328887" y="259461"/>
                    <a:pt x="22328887" y="579628"/>
                  </a:cubicBezTo>
                  <a:lnTo>
                    <a:pt x="22328887" y="2897886"/>
                  </a:lnTo>
                  <a:cubicBezTo>
                    <a:pt x="22328887" y="3217926"/>
                    <a:pt x="22069425" y="3477514"/>
                    <a:pt x="21749258" y="3477514"/>
                  </a:cubicBezTo>
                  <a:lnTo>
                    <a:pt x="579628" y="3477514"/>
                  </a:lnTo>
                  <a:cubicBezTo>
                    <a:pt x="259461" y="3477387"/>
                    <a:pt x="0" y="3217926"/>
                    <a:pt x="0" y="2897886"/>
                  </a:cubicBezTo>
                  <a:close/>
                </a:path>
              </a:pathLst>
            </a:custGeom>
            <a:solidFill>
              <a:srgbClr val="0A1C43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166774" y="6561372"/>
            <a:ext cx="15923000" cy="617706"/>
            <a:chOff x="0" y="0"/>
            <a:chExt cx="21230666" cy="82360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1230667" cy="823603"/>
            </a:xfrm>
            <a:custGeom>
              <a:avLst/>
              <a:gdLst/>
              <a:ahLst/>
              <a:cxnLst/>
              <a:rect r="r" b="b" t="t" l="l"/>
              <a:pathLst>
                <a:path h="823603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2280" r="0" b="-452281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21230666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 Secure &amp; Intelligent Data Journey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372676" y="7481068"/>
            <a:ext cx="3225784" cy="754971"/>
            <a:chOff x="0" y="0"/>
            <a:chExt cx="4301046" cy="1006627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300982" cy="1006602"/>
            </a:xfrm>
            <a:custGeom>
              <a:avLst/>
              <a:gdLst/>
              <a:ahLst/>
              <a:cxnLst/>
              <a:rect r="r" b="b" t="t" l="l"/>
              <a:pathLst>
                <a:path h="1006602" w="4300982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4133215" y="0"/>
                  </a:lnTo>
                  <a:cubicBezTo>
                    <a:pt x="4225925" y="0"/>
                    <a:pt x="4300982" y="75057"/>
                    <a:pt x="4300982" y="167767"/>
                  </a:cubicBezTo>
                  <a:lnTo>
                    <a:pt x="4300982" y="838835"/>
                  </a:lnTo>
                  <a:cubicBezTo>
                    <a:pt x="4300982" y="931545"/>
                    <a:pt x="4225925" y="1006602"/>
                    <a:pt x="4133215" y="1006602"/>
                  </a:cubicBezTo>
                  <a:lnTo>
                    <a:pt x="167767" y="1006602"/>
                  </a:lnTo>
                  <a:cubicBezTo>
                    <a:pt x="75057" y="1006602"/>
                    <a:pt x="0" y="931545"/>
                    <a:pt x="0" y="838835"/>
                  </a:cubicBezTo>
                  <a:close/>
                </a:path>
              </a:pathLst>
            </a:custGeom>
            <a:solidFill>
              <a:srgbClr val="207AD6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441304" y="7535970"/>
            <a:ext cx="3088510" cy="549069"/>
            <a:chOff x="0" y="0"/>
            <a:chExt cx="4118013" cy="73209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118017" cy="732092"/>
            </a:xfrm>
            <a:custGeom>
              <a:avLst/>
              <a:gdLst/>
              <a:ahLst/>
              <a:cxnLst/>
              <a:rect r="r" b="b" t="t" l="l"/>
              <a:pathLst>
                <a:path h="732092" w="4118017">
                  <a:moveTo>
                    <a:pt x="0" y="0"/>
                  </a:moveTo>
                  <a:lnTo>
                    <a:pt x="4118017" y="0"/>
                  </a:lnTo>
                  <a:lnTo>
                    <a:pt x="411801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0"/>
              <a:ext cx="4118013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Trusted Data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5490686" y="7481068"/>
            <a:ext cx="3225784" cy="754971"/>
            <a:chOff x="0" y="0"/>
            <a:chExt cx="4301046" cy="1006627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300982" cy="1006602"/>
            </a:xfrm>
            <a:custGeom>
              <a:avLst/>
              <a:gdLst/>
              <a:ahLst/>
              <a:cxnLst/>
              <a:rect r="r" b="b" t="t" l="l"/>
              <a:pathLst>
                <a:path h="1006602" w="4300982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4133215" y="0"/>
                  </a:lnTo>
                  <a:cubicBezTo>
                    <a:pt x="4225925" y="0"/>
                    <a:pt x="4300982" y="75057"/>
                    <a:pt x="4300982" y="167767"/>
                  </a:cubicBezTo>
                  <a:lnTo>
                    <a:pt x="4300982" y="838835"/>
                  </a:lnTo>
                  <a:cubicBezTo>
                    <a:pt x="4300982" y="931545"/>
                    <a:pt x="4225925" y="1006602"/>
                    <a:pt x="4133215" y="1006602"/>
                  </a:cubicBezTo>
                  <a:lnTo>
                    <a:pt x="167767" y="1006602"/>
                  </a:lnTo>
                  <a:cubicBezTo>
                    <a:pt x="75057" y="1006602"/>
                    <a:pt x="0" y="931545"/>
                    <a:pt x="0" y="838835"/>
                  </a:cubicBezTo>
                  <a:close/>
                </a:path>
              </a:pathLst>
            </a:custGeom>
            <a:solidFill>
              <a:srgbClr val="2AAE80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5559323" y="7535970"/>
            <a:ext cx="3088510" cy="549069"/>
            <a:chOff x="0" y="0"/>
            <a:chExt cx="4118013" cy="73209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118017" cy="732092"/>
            </a:xfrm>
            <a:custGeom>
              <a:avLst/>
              <a:gdLst/>
              <a:ahLst/>
              <a:cxnLst/>
              <a:rect r="r" b="b" t="t" l="l"/>
              <a:pathLst>
                <a:path h="732092" w="4118017">
                  <a:moveTo>
                    <a:pt x="0" y="0"/>
                  </a:moveTo>
                  <a:lnTo>
                    <a:pt x="4118017" y="0"/>
                  </a:lnTo>
                  <a:lnTo>
                    <a:pt x="411801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0"/>
              <a:ext cx="4118013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Secure SQL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608706" y="7481068"/>
            <a:ext cx="3225784" cy="754971"/>
            <a:chOff x="0" y="0"/>
            <a:chExt cx="4301046" cy="1006627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300982" cy="1006602"/>
            </a:xfrm>
            <a:custGeom>
              <a:avLst/>
              <a:gdLst/>
              <a:ahLst/>
              <a:cxnLst/>
              <a:rect r="r" b="b" t="t" l="l"/>
              <a:pathLst>
                <a:path h="1006602" w="4300982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4133215" y="0"/>
                  </a:lnTo>
                  <a:cubicBezTo>
                    <a:pt x="4225925" y="0"/>
                    <a:pt x="4300982" y="75057"/>
                    <a:pt x="4300982" y="167767"/>
                  </a:cubicBezTo>
                  <a:lnTo>
                    <a:pt x="4300982" y="838835"/>
                  </a:lnTo>
                  <a:cubicBezTo>
                    <a:pt x="4300982" y="931545"/>
                    <a:pt x="4225925" y="1006602"/>
                    <a:pt x="4133215" y="1006602"/>
                  </a:cubicBezTo>
                  <a:lnTo>
                    <a:pt x="167767" y="1006602"/>
                  </a:lnTo>
                  <a:cubicBezTo>
                    <a:pt x="75057" y="1006602"/>
                    <a:pt x="0" y="931545"/>
                    <a:pt x="0" y="838835"/>
                  </a:cubicBezTo>
                  <a:close/>
                </a:path>
              </a:pathLst>
            </a:custGeom>
            <a:solidFill>
              <a:srgbClr val="5758CD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9677343" y="7535970"/>
            <a:ext cx="3088510" cy="549069"/>
            <a:chOff x="0" y="0"/>
            <a:chExt cx="4118013" cy="73209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118017" cy="732092"/>
            </a:xfrm>
            <a:custGeom>
              <a:avLst/>
              <a:gdLst/>
              <a:ahLst/>
              <a:cxnLst/>
              <a:rect r="r" b="b" t="t" l="l"/>
              <a:pathLst>
                <a:path h="732092" w="4118017">
                  <a:moveTo>
                    <a:pt x="0" y="0"/>
                  </a:moveTo>
                  <a:lnTo>
                    <a:pt x="4118017" y="0"/>
                  </a:lnTo>
                  <a:lnTo>
                    <a:pt x="411801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0"/>
              <a:ext cx="4118013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 Ready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3726725" y="7481068"/>
            <a:ext cx="3225784" cy="754971"/>
            <a:chOff x="0" y="0"/>
            <a:chExt cx="4301046" cy="1006627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300982" cy="1006602"/>
            </a:xfrm>
            <a:custGeom>
              <a:avLst/>
              <a:gdLst/>
              <a:ahLst/>
              <a:cxnLst/>
              <a:rect r="r" b="b" t="t" l="l"/>
              <a:pathLst>
                <a:path h="1006602" w="4300982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4133215" y="0"/>
                  </a:lnTo>
                  <a:cubicBezTo>
                    <a:pt x="4225925" y="0"/>
                    <a:pt x="4300982" y="75057"/>
                    <a:pt x="4300982" y="167767"/>
                  </a:cubicBezTo>
                  <a:lnTo>
                    <a:pt x="4300982" y="838835"/>
                  </a:lnTo>
                  <a:cubicBezTo>
                    <a:pt x="4300982" y="931545"/>
                    <a:pt x="4225925" y="1006602"/>
                    <a:pt x="4133215" y="1006602"/>
                  </a:cubicBezTo>
                  <a:lnTo>
                    <a:pt x="167767" y="1006602"/>
                  </a:lnTo>
                  <a:cubicBezTo>
                    <a:pt x="75057" y="1006602"/>
                    <a:pt x="0" y="931545"/>
                    <a:pt x="0" y="838835"/>
                  </a:cubicBezTo>
                  <a:close/>
                </a:path>
              </a:pathLst>
            </a:custGeom>
            <a:solidFill>
              <a:srgbClr val="31B8E8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3795362" y="7535970"/>
            <a:ext cx="3088510" cy="549069"/>
            <a:chOff x="0" y="0"/>
            <a:chExt cx="4118013" cy="73209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118017" cy="732092"/>
            </a:xfrm>
            <a:custGeom>
              <a:avLst/>
              <a:gdLst/>
              <a:ahLst/>
              <a:cxnLst/>
              <a:rect r="r" b="b" t="t" l="l"/>
              <a:pathLst>
                <a:path h="732092" w="4118017">
                  <a:moveTo>
                    <a:pt x="0" y="0"/>
                  </a:moveTo>
                  <a:lnTo>
                    <a:pt x="4118017" y="0"/>
                  </a:lnTo>
                  <a:lnTo>
                    <a:pt x="411801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0"/>
              <a:ext cx="4118013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Actionable Insights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872" y="892235"/>
            <a:ext cx="988324" cy="1098137"/>
            <a:chOff x="0" y="0"/>
            <a:chExt cx="1317765" cy="1464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7752" cy="1464183"/>
            </a:xfrm>
            <a:custGeom>
              <a:avLst/>
              <a:gdLst/>
              <a:ahLst/>
              <a:cxnLst/>
              <a:rect r="r" b="b" t="t" l="l"/>
              <a:pathLst>
                <a:path h="1464183" w="1317752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1098169" y="0"/>
                  </a:lnTo>
                  <a:cubicBezTo>
                    <a:pt x="1219454" y="0"/>
                    <a:pt x="1317752" y="98298"/>
                    <a:pt x="1317752" y="219583"/>
                  </a:cubicBezTo>
                  <a:lnTo>
                    <a:pt x="1317752" y="1244600"/>
                  </a:lnTo>
                  <a:cubicBezTo>
                    <a:pt x="1317752" y="1365885"/>
                    <a:pt x="1219454" y="1464183"/>
                    <a:pt x="1098169" y="1464183"/>
                  </a:cubicBezTo>
                  <a:lnTo>
                    <a:pt x="219583" y="1464183"/>
                  </a:lnTo>
                  <a:cubicBezTo>
                    <a:pt x="98298" y="1464183"/>
                    <a:pt x="0" y="1365885"/>
                    <a:pt x="0" y="1244600"/>
                  </a:cubicBez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64912" y="892235"/>
            <a:ext cx="988324" cy="1578569"/>
            <a:chOff x="0" y="0"/>
            <a:chExt cx="1317765" cy="21047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17752" cy="2104771"/>
            </a:xfrm>
            <a:custGeom>
              <a:avLst/>
              <a:gdLst/>
              <a:ahLst/>
              <a:cxnLst/>
              <a:rect r="r" b="b" t="t" l="l"/>
              <a:pathLst>
                <a:path h="2104771" w="1317752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1098169" y="0"/>
                  </a:lnTo>
                  <a:cubicBezTo>
                    <a:pt x="1219454" y="0"/>
                    <a:pt x="1317752" y="98298"/>
                    <a:pt x="1317752" y="219583"/>
                  </a:cubicBezTo>
                  <a:lnTo>
                    <a:pt x="1317752" y="1885188"/>
                  </a:lnTo>
                  <a:cubicBezTo>
                    <a:pt x="1317752" y="2006473"/>
                    <a:pt x="1219454" y="2104771"/>
                    <a:pt x="1098169" y="2104771"/>
                  </a:cubicBezTo>
                  <a:lnTo>
                    <a:pt x="219583" y="2104771"/>
                  </a:lnTo>
                  <a:cubicBezTo>
                    <a:pt x="98298" y="2104771"/>
                    <a:pt x="0" y="2006473"/>
                    <a:pt x="0" y="1885188"/>
                  </a:cubicBezTo>
                  <a:close/>
                </a:path>
              </a:pathLst>
            </a:custGeom>
            <a:solidFill>
              <a:srgbClr val="00BCF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568951" y="892235"/>
            <a:ext cx="988324" cy="754971"/>
            <a:chOff x="0" y="0"/>
            <a:chExt cx="1317765" cy="10066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775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317752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1149985" y="0"/>
                  </a:lnTo>
                  <a:cubicBezTo>
                    <a:pt x="1242695" y="0"/>
                    <a:pt x="1317752" y="75057"/>
                    <a:pt x="1317752" y="167767"/>
                  </a:cubicBezTo>
                  <a:lnTo>
                    <a:pt x="1317752" y="838835"/>
                  </a:lnTo>
                  <a:cubicBezTo>
                    <a:pt x="1317752" y="931545"/>
                    <a:pt x="1242695" y="1006602"/>
                    <a:pt x="1149985" y="1006602"/>
                  </a:cubicBezTo>
                  <a:lnTo>
                    <a:pt x="167767" y="1006602"/>
                  </a:lnTo>
                  <a:cubicBezTo>
                    <a:pt x="75057" y="1006602"/>
                    <a:pt x="0" y="931545"/>
                    <a:pt x="0" y="838835"/>
                  </a:cubicBezTo>
                  <a:close/>
                </a:path>
              </a:pathLst>
            </a:custGeom>
            <a:solidFill>
              <a:srgbClr val="0078D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26842" y="2791063"/>
            <a:ext cx="15602855" cy="128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5"/>
              </a:lnSpc>
            </a:pPr>
            <a:r>
              <a:rPr lang="en-US" sz="5704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THANK YOU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01381" y="4097064"/>
            <a:ext cx="15053786" cy="1622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00BC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SQL + AI  •  Secure Data  •  Intelligent Solutions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From Data to Intelligent Decisions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50450" y="7351414"/>
            <a:ext cx="13955649" cy="701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Presented by Shruti Pawar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4116" y="8870880"/>
            <a:ext cx="15328316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D2DCEB"/>
                </a:solidFill>
                <a:latin typeface="Calibri (MS)"/>
                <a:ea typeface="Calibri (MS)"/>
                <a:cs typeface="Calibri (MS)"/>
                <a:sym typeface="Calibri (MS)"/>
              </a:rPr>
              <a:t>Microsoft Certified: SQL AI Developer Associate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872" y="892235"/>
            <a:ext cx="988324" cy="1098137"/>
            <a:chOff x="0" y="0"/>
            <a:chExt cx="1317765" cy="1464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7752" cy="1464183"/>
            </a:xfrm>
            <a:custGeom>
              <a:avLst/>
              <a:gdLst/>
              <a:ahLst/>
              <a:cxnLst/>
              <a:rect r="r" b="b" t="t" l="l"/>
              <a:pathLst>
                <a:path h="1464183" w="1317752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1098169" y="0"/>
                  </a:lnTo>
                  <a:cubicBezTo>
                    <a:pt x="1219454" y="0"/>
                    <a:pt x="1317752" y="98298"/>
                    <a:pt x="1317752" y="219583"/>
                  </a:cubicBezTo>
                  <a:lnTo>
                    <a:pt x="1317752" y="1244600"/>
                  </a:lnTo>
                  <a:cubicBezTo>
                    <a:pt x="1317752" y="1365885"/>
                    <a:pt x="1219454" y="1464183"/>
                    <a:pt x="1098169" y="1464183"/>
                  </a:cubicBezTo>
                  <a:lnTo>
                    <a:pt x="219583" y="1464183"/>
                  </a:lnTo>
                  <a:cubicBezTo>
                    <a:pt x="98298" y="1464183"/>
                    <a:pt x="0" y="1365885"/>
                    <a:pt x="0" y="1244600"/>
                  </a:cubicBezTo>
                  <a:close/>
                </a:path>
              </a:pathLst>
            </a:custGeom>
            <a:solidFill>
              <a:srgbClr val="0078D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64912" y="892235"/>
            <a:ext cx="988324" cy="1578569"/>
            <a:chOff x="0" y="0"/>
            <a:chExt cx="1317765" cy="21047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17752" cy="2104771"/>
            </a:xfrm>
            <a:custGeom>
              <a:avLst/>
              <a:gdLst/>
              <a:ahLst/>
              <a:cxnLst/>
              <a:rect r="r" b="b" t="t" l="l"/>
              <a:pathLst>
                <a:path h="2104771" w="1317752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1098169" y="0"/>
                  </a:lnTo>
                  <a:cubicBezTo>
                    <a:pt x="1219454" y="0"/>
                    <a:pt x="1317752" y="98298"/>
                    <a:pt x="1317752" y="219583"/>
                  </a:cubicBezTo>
                  <a:lnTo>
                    <a:pt x="1317752" y="1885188"/>
                  </a:lnTo>
                  <a:cubicBezTo>
                    <a:pt x="1317752" y="2006473"/>
                    <a:pt x="1219454" y="2104771"/>
                    <a:pt x="1098169" y="2104771"/>
                  </a:cubicBezTo>
                  <a:lnTo>
                    <a:pt x="219583" y="2104771"/>
                  </a:lnTo>
                  <a:cubicBezTo>
                    <a:pt x="98298" y="2104771"/>
                    <a:pt x="0" y="2006473"/>
                    <a:pt x="0" y="1885188"/>
                  </a:cubicBezTo>
                  <a:close/>
                </a:path>
              </a:pathLst>
            </a:custGeom>
            <a:solidFill>
              <a:srgbClr val="00BCF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568951" y="892235"/>
            <a:ext cx="988324" cy="754971"/>
            <a:chOff x="0" y="0"/>
            <a:chExt cx="1317765" cy="10066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775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317752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1149985" y="0"/>
                  </a:lnTo>
                  <a:cubicBezTo>
                    <a:pt x="1242695" y="0"/>
                    <a:pt x="1317752" y="75057"/>
                    <a:pt x="1317752" y="167767"/>
                  </a:cubicBezTo>
                  <a:lnTo>
                    <a:pt x="1317752" y="838835"/>
                  </a:lnTo>
                  <a:cubicBezTo>
                    <a:pt x="1317752" y="931545"/>
                    <a:pt x="1242695" y="1006602"/>
                    <a:pt x="1149985" y="1006602"/>
                  </a:cubicBezTo>
                  <a:lnTo>
                    <a:pt x="167767" y="1006602"/>
                  </a:lnTo>
                  <a:cubicBezTo>
                    <a:pt x="75057" y="1006602"/>
                    <a:pt x="0" y="931545"/>
                    <a:pt x="0" y="838835"/>
                  </a:cubicBezTo>
                  <a:close/>
                </a:path>
              </a:pathLst>
            </a:custGeom>
            <a:solidFill>
              <a:srgbClr val="0078D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26842" y="2791063"/>
            <a:ext cx="15602855" cy="128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5"/>
              </a:lnSpc>
            </a:pPr>
            <a:r>
              <a:rPr lang="en-US" sz="5704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THANK YOU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01381" y="4097064"/>
            <a:ext cx="15053786" cy="1622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00BCF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SQL + AI  •  Secure Data  •  Intelligent Solutions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From Data to Intelligent Decisions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50450" y="7351414"/>
            <a:ext cx="13955649" cy="701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Presented by Shruti Pawar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4116" y="8870880"/>
            <a:ext cx="15328316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D2DCEB"/>
                </a:solidFill>
                <a:latin typeface="Calibri (MS)"/>
                <a:ea typeface="Calibri (MS)"/>
                <a:cs typeface="Calibri (MS)"/>
                <a:sym typeface="Calibri (MS)"/>
              </a:rPr>
              <a:t>Microsoft Certified: SQL AI Developer Associate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DAHZeLFTl9A</dc:identifier>
  <dcterms:modified xsi:type="dcterms:W3CDTF">2011-08-01T06:04:30Z</dcterms:modified>
  <cp:revision>1</cp:revision>
  <dc:title>SQL_AI_Developer_Associate_Presentation_Updated.pptx</dc:title>
</cp:coreProperties>
</file>