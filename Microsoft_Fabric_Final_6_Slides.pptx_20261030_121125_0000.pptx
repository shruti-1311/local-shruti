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Aptos Bold" charset="1" panose="020B0004020202020204"/>
      <p:regular r:id="rId12"/>
    </p:embeddedFont>
    <p:embeddedFont>
      <p:font typeface="Aptos" charset="1" panose="020B0004020202020204"/>
      <p:regular r:id="rId13"/>
    </p:embeddedFont>
    <p:embeddedFont>
      <p:font typeface="Calibri (MS) Bold" charset="1" panose="020F0702030404030204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E1D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7706" y="754971"/>
            <a:ext cx="439255" cy="439255"/>
            <a:chOff x="0" y="0"/>
            <a:chExt cx="585673" cy="5856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85724" cy="585724"/>
            </a:xfrm>
            <a:custGeom>
              <a:avLst/>
              <a:gdLst/>
              <a:ahLst/>
              <a:cxnLst/>
              <a:rect r="r" b="b" t="t" l="l"/>
              <a:pathLst>
                <a:path h="585724" w="585724">
                  <a:moveTo>
                    <a:pt x="0" y="97663"/>
                  </a:moveTo>
                  <a:cubicBezTo>
                    <a:pt x="0" y="43688"/>
                    <a:pt x="43688" y="0"/>
                    <a:pt x="97663" y="0"/>
                  </a:cubicBezTo>
                  <a:lnTo>
                    <a:pt x="488061" y="0"/>
                  </a:lnTo>
                  <a:cubicBezTo>
                    <a:pt x="541909" y="0"/>
                    <a:pt x="585724" y="43688"/>
                    <a:pt x="585724" y="97663"/>
                  </a:cubicBezTo>
                  <a:lnTo>
                    <a:pt x="585724" y="488061"/>
                  </a:lnTo>
                  <a:cubicBezTo>
                    <a:pt x="585724" y="541909"/>
                    <a:pt x="542036" y="585724"/>
                    <a:pt x="488061" y="585724"/>
                  </a:cubicBezTo>
                  <a:lnTo>
                    <a:pt x="97663" y="585724"/>
                  </a:lnTo>
                  <a:cubicBezTo>
                    <a:pt x="43688" y="585724"/>
                    <a:pt x="0" y="541909"/>
                    <a:pt x="0" y="488061"/>
                  </a:cubicBezTo>
                  <a:close/>
                </a:path>
              </a:pathLst>
            </a:custGeom>
            <a:solidFill>
              <a:srgbClr val="30B5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66774" y="754971"/>
            <a:ext cx="439255" cy="439255"/>
            <a:chOff x="0" y="0"/>
            <a:chExt cx="585673" cy="5856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5724" cy="585724"/>
            </a:xfrm>
            <a:custGeom>
              <a:avLst/>
              <a:gdLst/>
              <a:ahLst/>
              <a:cxnLst/>
              <a:rect r="r" b="b" t="t" l="l"/>
              <a:pathLst>
                <a:path h="585724" w="585724">
                  <a:moveTo>
                    <a:pt x="0" y="97663"/>
                  </a:moveTo>
                  <a:cubicBezTo>
                    <a:pt x="0" y="43688"/>
                    <a:pt x="43688" y="0"/>
                    <a:pt x="97663" y="0"/>
                  </a:cubicBezTo>
                  <a:lnTo>
                    <a:pt x="488061" y="0"/>
                  </a:lnTo>
                  <a:cubicBezTo>
                    <a:pt x="541909" y="0"/>
                    <a:pt x="585724" y="43688"/>
                    <a:pt x="585724" y="97663"/>
                  </a:cubicBezTo>
                  <a:lnTo>
                    <a:pt x="585724" y="488061"/>
                  </a:lnTo>
                  <a:cubicBezTo>
                    <a:pt x="585724" y="541909"/>
                    <a:pt x="542036" y="585724"/>
                    <a:pt x="488061" y="585724"/>
                  </a:cubicBezTo>
                  <a:lnTo>
                    <a:pt x="97663" y="585724"/>
                  </a:lnTo>
                  <a:cubicBezTo>
                    <a:pt x="43688" y="585724"/>
                    <a:pt x="0" y="541909"/>
                    <a:pt x="0" y="488061"/>
                  </a:cubicBezTo>
                  <a:close/>
                </a:path>
              </a:pathLst>
            </a:custGeom>
            <a:solidFill>
              <a:srgbClr val="22AA7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715843" y="754971"/>
            <a:ext cx="439255" cy="439255"/>
            <a:chOff x="0" y="0"/>
            <a:chExt cx="585673" cy="58567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5724" cy="585724"/>
            </a:xfrm>
            <a:custGeom>
              <a:avLst/>
              <a:gdLst/>
              <a:ahLst/>
              <a:cxnLst/>
              <a:rect r="r" b="b" t="t" l="l"/>
              <a:pathLst>
                <a:path h="585724" w="585724">
                  <a:moveTo>
                    <a:pt x="0" y="97663"/>
                  </a:moveTo>
                  <a:cubicBezTo>
                    <a:pt x="0" y="43688"/>
                    <a:pt x="43688" y="0"/>
                    <a:pt x="97663" y="0"/>
                  </a:cubicBezTo>
                  <a:lnTo>
                    <a:pt x="488061" y="0"/>
                  </a:lnTo>
                  <a:cubicBezTo>
                    <a:pt x="541909" y="0"/>
                    <a:pt x="585724" y="43688"/>
                    <a:pt x="585724" y="97663"/>
                  </a:cubicBezTo>
                  <a:lnTo>
                    <a:pt x="585724" y="488061"/>
                  </a:lnTo>
                  <a:cubicBezTo>
                    <a:pt x="585724" y="541909"/>
                    <a:pt x="542036" y="585724"/>
                    <a:pt x="488061" y="585724"/>
                  </a:cubicBezTo>
                  <a:lnTo>
                    <a:pt x="97663" y="585724"/>
                  </a:lnTo>
                  <a:cubicBezTo>
                    <a:pt x="43688" y="585724"/>
                    <a:pt x="0" y="541909"/>
                    <a:pt x="0" y="488061"/>
                  </a:cubicBezTo>
                  <a:close/>
                </a:path>
              </a:pathLst>
            </a:custGeom>
            <a:solidFill>
              <a:srgbClr val="4E5BD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60872" y="1715843"/>
            <a:ext cx="7686961" cy="1990373"/>
            <a:chOff x="0" y="0"/>
            <a:chExt cx="10249281" cy="265383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49288" cy="2653833"/>
            </a:xfrm>
            <a:custGeom>
              <a:avLst/>
              <a:gdLst/>
              <a:ahLst/>
              <a:cxnLst/>
              <a:rect r="r" b="b" t="t" l="l"/>
              <a:pathLst>
                <a:path h="2653833" w="10249288">
                  <a:moveTo>
                    <a:pt x="0" y="0"/>
                  </a:moveTo>
                  <a:lnTo>
                    <a:pt x="10249288" y="0"/>
                  </a:lnTo>
                  <a:lnTo>
                    <a:pt x="10249288" y="2653833"/>
                  </a:lnTo>
                  <a:lnTo>
                    <a:pt x="0" y="26538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252" r="0" b="-2525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0249281" cy="2653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565"/>
                </a:lnSpc>
              </a:pPr>
              <a:r>
                <a:rPr lang="en-US" sz="630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Microsoft</a:t>
              </a:r>
            </a:p>
            <a:p>
              <a:pPr algn="l">
                <a:lnSpc>
                  <a:spcPts val="7565"/>
                </a:lnSpc>
              </a:pPr>
              <a:r>
                <a:rPr lang="en-US" sz="630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Fabric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88324" y="3912118"/>
            <a:ext cx="8510568" cy="1372676"/>
            <a:chOff x="0" y="0"/>
            <a:chExt cx="11347425" cy="183023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347425" cy="1830230"/>
            </a:xfrm>
            <a:custGeom>
              <a:avLst/>
              <a:gdLst/>
              <a:ahLst/>
              <a:cxnLst/>
              <a:rect r="r" b="b" t="t" l="l"/>
              <a:pathLst>
                <a:path h="1830230" w="11347425">
                  <a:moveTo>
                    <a:pt x="0" y="0"/>
                  </a:moveTo>
                  <a:lnTo>
                    <a:pt x="11347425" y="0"/>
                  </a:lnTo>
                  <a:lnTo>
                    <a:pt x="11347425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807" r="0" b="-7080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11347425" cy="1820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3"/>
                </a:lnSpc>
              </a:pPr>
              <a:r>
                <a:rPr lang="en-US" sz="3302">
                  <a:solidFill>
                    <a:srgbClr val="DCE8FA"/>
                  </a:solidFill>
                  <a:latin typeface="Aptos"/>
                  <a:ea typeface="Aptos"/>
                  <a:cs typeface="Aptos"/>
                  <a:sym typeface="Aptos"/>
                </a:rPr>
                <a:t>The Unified Analytics Platform</a:t>
              </a:r>
            </a:p>
            <a:p>
              <a:pPr algn="l">
                <a:lnSpc>
                  <a:spcPts val="3963"/>
                </a:lnSpc>
              </a:pPr>
              <a:r>
                <a:rPr lang="en-US" sz="3302">
                  <a:solidFill>
                    <a:srgbClr val="DCE8FA"/>
                  </a:solidFill>
                  <a:latin typeface="Aptos"/>
                  <a:ea typeface="Aptos"/>
                  <a:cs typeface="Aptos"/>
                  <a:sym typeface="Aptos"/>
                </a:rPr>
                <a:t>for a Data-Driven World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88324" y="5559323"/>
            <a:ext cx="8922372" cy="617706"/>
            <a:chOff x="0" y="0"/>
            <a:chExt cx="11896496" cy="8236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96494" cy="823603"/>
            </a:xfrm>
            <a:custGeom>
              <a:avLst/>
              <a:gdLst/>
              <a:ahLst/>
              <a:cxnLst/>
              <a:rect r="r" b="b" t="t" l="l"/>
              <a:pathLst>
                <a:path h="823603" w="11896494">
                  <a:moveTo>
                    <a:pt x="0" y="0"/>
                  </a:moveTo>
                  <a:lnTo>
                    <a:pt x="11896494" y="0"/>
                  </a:lnTo>
                  <a:lnTo>
                    <a:pt x="11896494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450" r="0" b="-23145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1896496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One Platform  |  One Data Lake  |  Endless Possibilities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29500" y="6520196"/>
            <a:ext cx="713794" cy="713794"/>
            <a:chOff x="0" y="0"/>
            <a:chExt cx="951725" cy="95172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29500" y="6533921"/>
            <a:ext cx="713794" cy="658882"/>
            <a:chOff x="0" y="0"/>
            <a:chExt cx="951725" cy="87851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949196" y="6520196"/>
            <a:ext cx="6588824" cy="658882"/>
            <a:chOff x="0" y="0"/>
            <a:chExt cx="8785098" cy="87851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785103" cy="878510"/>
            </a:xfrm>
            <a:custGeom>
              <a:avLst/>
              <a:gdLst/>
              <a:ahLst/>
              <a:cxnLst/>
              <a:rect r="r" b="b" t="t" l="l"/>
              <a:pathLst>
                <a:path h="878510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8785098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Connect Data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9500" y="7233980"/>
            <a:ext cx="713794" cy="713794"/>
            <a:chOff x="0" y="0"/>
            <a:chExt cx="951725" cy="9517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2AA7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29500" y="7247706"/>
            <a:ext cx="713794" cy="658882"/>
            <a:chOff x="0" y="0"/>
            <a:chExt cx="951725" cy="87851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949196" y="7233980"/>
            <a:ext cx="6588824" cy="658882"/>
            <a:chOff x="0" y="0"/>
            <a:chExt cx="8785098" cy="87851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85103" cy="878510"/>
            </a:xfrm>
            <a:custGeom>
              <a:avLst/>
              <a:gdLst/>
              <a:ahLst/>
              <a:cxnLst/>
              <a:rect r="r" b="b" t="t" l="l"/>
              <a:pathLst>
                <a:path h="878510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8785098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Transform at Scale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9500" y="7947774"/>
            <a:ext cx="713794" cy="713794"/>
            <a:chOff x="0" y="0"/>
            <a:chExt cx="951725" cy="9517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4E5BD2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29500" y="7961500"/>
            <a:ext cx="713794" cy="658882"/>
            <a:chOff x="0" y="0"/>
            <a:chExt cx="951725" cy="87851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949196" y="7947774"/>
            <a:ext cx="6588824" cy="658882"/>
            <a:chOff x="0" y="0"/>
            <a:chExt cx="8785098" cy="87851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785103" cy="878510"/>
            </a:xfrm>
            <a:custGeom>
              <a:avLst/>
              <a:gdLst/>
              <a:ahLst/>
              <a:cxnLst/>
              <a:rect r="r" b="b" t="t" l="l"/>
              <a:pathLst>
                <a:path h="878510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8785098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Gain Real-Time Insights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029500" y="8661559"/>
            <a:ext cx="713794" cy="713794"/>
            <a:chOff x="0" y="0"/>
            <a:chExt cx="951725" cy="95172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30B5EB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029500" y="8675294"/>
            <a:ext cx="713794" cy="658882"/>
            <a:chOff x="0" y="0"/>
            <a:chExt cx="951725" cy="87851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949196" y="8661559"/>
            <a:ext cx="6588824" cy="658882"/>
            <a:chOff x="0" y="0"/>
            <a:chExt cx="8785098" cy="87851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785103" cy="878510"/>
            </a:xfrm>
            <a:custGeom>
              <a:avLst/>
              <a:gdLst/>
              <a:ahLst/>
              <a:cxnLst/>
              <a:rect r="r" b="b" t="t" l="l"/>
              <a:pathLst>
                <a:path h="878510" w="8785103">
                  <a:moveTo>
                    <a:pt x="0" y="0"/>
                  </a:moveTo>
                  <a:lnTo>
                    <a:pt x="8785103" y="0"/>
                  </a:lnTo>
                  <a:lnTo>
                    <a:pt x="8785103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8785098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Empower Everyone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118647" y="1441304"/>
            <a:ext cx="6108392" cy="7343794"/>
            <a:chOff x="0" y="0"/>
            <a:chExt cx="8144523" cy="979172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44510" cy="9791700"/>
            </a:xfrm>
            <a:custGeom>
              <a:avLst/>
              <a:gdLst/>
              <a:ahLst/>
              <a:cxnLst/>
              <a:rect r="r" b="b" t="t" l="l"/>
              <a:pathLst>
                <a:path h="9791700" w="8144510">
                  <a:moveTo>
                    <a:pt x="0" y="1357503"/>
                  </a:moveTo>
                  <a:cubicBezTo>
                    <a:pt x="0" y="607695"/>
                    <a:pt x="607695" y="0"/>
                    <a:pt x="1357503" y="0"/>
                  </a:cubicBezTo>
                  <a:lnTo>
                    <a:pt x="6787134" y="0"/>
                  </a:lnTo>
                  <a:cubicBezTo>
                    <a:pt x="7536815" y="0"/>
                    <a:pt x="8144510" y="607695"/>
                    <a:pt x="8144510" y="1357503"/>
                  </a:cubicBezTo>
                  <a:lnTo>
                    <a:pt x="8144510" y="8434324"/>
                  </a:lnTo>
                  <a:cubicBezTo>
                    <a:pt x="8144510" y="9184005"/>
                    <a:pt x="7536815" y="9791700"/>
                    <a:pt x="6787134" y="9791700"/>
                  </a:cubicBezTo>
                  <a:lnTo>
                    <a:pt x="1357503" y="9791700"/>
                  </a:lnTo>
                  <a:cubicBezTo>
                    <a:pt x="607695" y="9791700"/>
                    <a:pt x="0" y="9184005"/>
                    <a:pt x="0" y="8434324"/>
                  </a:cubicBezTo>
                  <a:close/>
                </a:path>
              </a:pathLst>
            </a:custGeom>
            <a:solidFill>
              <a:srgbClr val="153169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873617" y="2813980"/>
            <a:ext cx="4804353" cy="2470814"/>
            <a:chOff x="0" y="0"/>
            <a:chExt cx="6405804" cy="329441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405805" cy="3294414"/>
            </a:xfrm>
            <a:custGeom>
              <a:avLst/>
              <a:gdLst/>
              <a:ahLst/>
              <a:cxnLst/>
              <a:rect r="r" b="b" t="t" l="l"/>
              <a:pathLst>
                <a:path h="3294414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3294414"/>
                  </a:lnTo>
                  <a:lnTo>
                    <a:pt x="0" y="329441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5984" t="0" r="-15984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6405804" cy="329441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4"/>
                </a:lnSpc>
              </a:pPr>
              <a:r>
                <a:rPr lang="en-US" sz="4503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More</a:t>
              </a:r>
            </a:p>
            <a:p>
              <a:pPr algn="ctr">
                <a:lnSpc>
                  <a:spcPts val="5404"/>
                </a:lnSpc>
              </a:pPr>
              <a:r>
                <a:rPr lang="en-US" sz="4503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Connected</a:t>
              </a:r>
            </a:p>
            <a:p>
              <a:pPr algn="ctr">
                <a:lnSpc>
                  <a:spcPts val="5404"/>
                </a:lnSpc>
              </a:pPr>
              <a:r>
                <a:rPr lang="en-US" sz="4503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Future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736353" y="6245657"/>
            <a:ext cx="988324" cy="1441304"/>
            <a:chOff x="0" y="0"/>
            <a:chExt cx="1317765" cy="1921739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17752" cy="1921764"/>
            </a:xfrm>
            <a:custGeom>
              <a:avLst/>
              <a:gdLst/>
              <a:ahLst/>
              <a:cxnLst/>
              <a:rect r="r" b="b" t="t" l="l"/>
              <a:pathLst>
                <a:path h="1921764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1921764"/>
                  </a:lnTo>
                  <a:lnTo>
                    <a:pt x="0" y="1921764"/>
                  </a:ln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3177657" y="5765225"/>
            <a:ext cx="988324" cy="1921745"/>
            <a:chOff x="0" y="0"/>
            <a:chExt cx="1317765" cy="256232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317752" cy="2562352"/>
            </a:xfrm>
            <a:custGeom>
              <a:avLst/>
              <a:gdLst/>
              <a:ahLst/>
              <a:cxnLst/>
              <a:rect r="r" b="b" t="t" l="l"/>
              <a:pathLst>
                <a:path h="2562352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2562352"/>
                  </a:lnTo>
                  <a:lnTo>
                    <a:pt x="0" y="2562352"/>
                  </a:lnTo>
                  <a:close/>
                </a:path>
              </a:pathLst>
            </a:custGeom>
            <a:solidFill>
              <a:srgbClr val="30B5EB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4618960" y="5284784"/>
            <a:ext cx="988324" cy="2402176"/>
            <a:chOff x="0" y="0"/>
            <a:chExt cx="1317765" cy="3202902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17752" cy="3202940"/>
            </a:xfrm>
            <a:custGeom>
              <a:avLst/>
              <a:gdLst/>
              <a:ahLst/>
              <a:cxnLst/>
              <a:rect r="r" b="b" t="t" l="l"/>
              <a:pathLst>
                <a:path h="3202940" w="1317752">
                  <a:moveTo>
                    <a:pt x="0" y="0"/>
                  </a:moveTo>
                  <a:lnTo>
                    <a:pt x="1317752" y="0"/>
                  </a:lnTo>
                  <a:lnTo>
                    <a:pt x="1317752" y="3202940"/>
                  </a:lnTo>
                  <a:lnTo>
                    <a:pt x="0" y="3202940"/>
                  </a:lnTo>
                  <a:close/>
                </a:path>
              </a:pathLst>
            </a:custGeom>
            <a:solidFill>
              <a:srgbClr val="22AA7D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559951" y="9265539"/>
            <a:ext cx="4118019" cy="617706"/>
            <a:chOff x="0" y="0"/>
            <a:chExt cx="5490693" cy="82360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490690" cy="823603"/>
            </a:xfrm>
            <a:custGeom>
              <a:avLst/>
              <a:gdLst/>
              <a:ahLst/>
              <a:cxnLst/>
              <a:rect r="r" b="b" t="t" l="l"/>
              <a:pathLst>
                <a:path h="823603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9900" r="0" b="-7990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5490693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1"/>
                </a:lnSpc>
              </a:pPr>
              <a:r>
                <a:rPr lang="en-US" sz="1801">
                  <a:solidFill>
                    <a:srgbClr val="D2E1F5"/>
                  </a:solidFill>
                  <a:latin typeface="Aptos"/>
                  <a:ea typeface="Aptos"/>
                  <a:cs typeface="Aptos"/>
                  <a:sym typeface="Aptos"/>
                </a:rPr>
                <a:t>Turning Data into</a:t>
              </a:r>
            </a:p>
            <a:p>
              <a:pPr algn="r">
                <a:lnSpc>
                  <a:spcPts val="2161"/>
                </a:lnSpc>
              </a:pPr>
              <a:r>
                <a:rPr lang="en-US" sz="1801">
                  <a:solidFill>
                    <a:srgbClr val="D2E1F5"/>
                  </a:solidFill>
                  <a:latin typeface="Aptos"/>
                  <a:ea typeface="Aptos"/>
                  <a:cs typeface="Aptos"/>
                  <a:sym typeface="Aptos"/>
                </a:rPr>
                <a:t>Brighter Possibilities</a:t>
              </a:r>
            </a:p>
          </p:txBody>
        </p:sp>
      </p:grpSp>
      <p:sp>
        <p:nvSpPr>
          <p:cNvPr name="TextBox 65" id="65"/>
          <p:cNvSpPr txBox="true"/>
          <p:nvPr/>
        </p:nvSpPr>
        <p:spPr>
          <a:xfrm rot="0">
            <a:off x="4209459" y="9036720"/>
            <a:ext cx="9906267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DCE8FA"/>
                </a:solidFill>
                <a:latin typeface="Aptos Bold"/>
                <a:ea typeface="Aptos Bold"/>
                <a:cs typeface="Aptos Bold"/>
                <a:sym typeface="Aptos Bold"/>
              </a:rPr>
              <a:t>Presented by Shruti Pawar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8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480431"/>
            <a:ext cx="16746607" cy="754971"/>
            <a:chOff x="0" y="0"/>
            <a:chExt cx="22328810" cy="10066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28805" cy="1006626"/>
            </a:xfrm>
            <a:custGeom>
              <a:avLst/>
              <a:gdLst/>
              <a:ahLst/>
              <a:cxnLst/>
              <a:rect r="r" b="b" t="t" l="l"/>
              <a:pathLst>
                <a:path h="1006626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213" r="0" b="-3822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2328810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E1D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1. The Data Challenge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6147" y="1262863"/>
            <a:ext cx="16472068" cy="617706"/>
            <a:chOff x="0" y="0"/>
            <a:chExt cx="21962758" cy="823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759" cy="823603"/>
            </a:xfrm>
            <a:custGeom>
              <a:avLst/>
              <a:gdLst/>
              <a:ahLst/>
              <a:cxnLst/>
              <a:rect r="r" b="b" t="t" l="l"/>
              <a:pathLst>
                <a:path h="823603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62758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Organizations today work with multiple tools and data sources, which leads to complexity, data silos and higher costs.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16454" y="2120494"/>
            <a:ext cx="2828277" cy="1867405"/>
            <a:chOff x="0" y="0"/>
            <a:chExt cx="3771036" cy="24898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771138" cy="2489962"/>
            </a:xfrm>
            <a:custGeom>
              <a:avLst/>
              <a:gdLst/>
              <a:ahLst/>
              <a:cxnLst/>
              <a:rect r="r" b="b" t="t" l="l"/>
              <a:pathLst>
                <a:path h="2489962" w="377113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3356102" y="0"/>
                  </a:lnTo>
                  <a:cubicBezTo>
                    <a:pt x="3585337" y="0"/>
                    <a:pt x="3771138" y="185801"/>
                    <a:pt x="3771138" y="415036"/>
                  </a:cubicBezTo>
                  <a:lnTo>
                    <a:pt x="3771138" y="2074926"/>
                  </a:lnTo>
                  <a:cubicBezTo>
                    <a:pt x="3771138" y="2304161"/>
                    <a:pt x="3585337" y="2489962"/>
                    <a:pt x="335610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7F2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823608" y="2333539"/>
            <a:ext cx="2813980" cy="617706"/>
            <a:chOff x="0" y="0"/>
            <a:chExt cx="3751974" cy="8236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751969" cy="823603"/>
            </a:xfrm>
            <a:custGeom>
              <a:avLst/>
              <a:gdLst/>
              <a:ahLst/>
              <a:cxnLst/>
              <a:rect r="r" b="b" t="t" l="l"/>
              <a:pathLst>
                <a:path h="823603" w="3751969">
                  <a:moveTo>
                    <a:pt x="0" y="0"/>
                  </a:moveTo>
                  <a:lnTo>
                    <a:pt x="3751969" y="0"/>
                  </a:lnTo>
                  <a:lnTo>
                    <a:pt x="3751969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4" r="0" b="-3876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751974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03"/>
                </a:lnSpc>
              </a:pPr>
              <a:r>
                <a:rPr lang="en-US" sz="3752" b="true">
                  <a:solidFill>
                    <a:srgbClr val="237E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DB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0872" y="2910068"/>
            <a:ext cx="2539441" cy="754971"/>
            <a:chOff x="0" y="0"/>
            <a:chExt cx="3385922" cy="10066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385925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3385922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On-premises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Databases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179503" y="2120494"/>
            <a:ext cx="2828277" cy="1867405"/>
            <a:chOff x="0" y="0"/>
            <a:chExt cx="3771036" cy="24898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771138" cy="2489962"/>
            </a:xfrm>
            <a:custGeom>
              <a:avLst/>
              <a:gdLst/>
              <a:ahLst/>
              <a:cxnLst/>
              <a:rect r="r" b="b" t="t" l="l"/>
              <a:pathLst>
                <a:path h="2489962" w="377113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3356102" y="0"/>
                  </a:lnTo>
                  <a:cubicBezTo>
                    <a:pt x="3585337" y="0"/>
                    <a:pt x="3771138" y="185801"/>
                    <a:pt x="3771138" y="415036"/>
                  </a:cubicBezTo>
                  <a:lnTo>
                    <a:pt x="3771138" y="2074926"/>
                  </a:lnTo>
                  <a:cubicBezTo>
                    <a:pt x="3771138" y="2304161"/>
                    <a:pt x="3585337" y="2489962"/>
                    <a:pt x="335610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7F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4186647" y="2333539"/>
            <a:ext cx="2813980" cy="617706"/>
            <a:chOff x="0" y="0"/>
            <a:chExt cx="3751974" cy="82360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751969" cy="823603"/>
            </a:xfrm>
            <a:custGeom>
              <a:avLst/>
              <a:gdLst/>
              <a:ahLst/>
              <a:cxnLst/>
              <a:rect r="r" b="b" t="t" l="l"/>
              <a:pathLst>
                <a:path h="823603" w="3751969">
                  <a:moveTo>
                    <a:pt x="0" y="0"/>
                  </a:moveTo>
                  <a:lnTo>
                    <a:pt x="3751969" y="0"/>
                  </a:lnTo>
                  <a:lnTo>
                    <a:pt x="3751969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4" r="0" b="-3876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3751974" cy="899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03"/>
                </a:lnSpc>
              </a:pPr>
              <a:r>
                <a:rPr lang="en-US" sz="3752" b="true">
                  <a:solidFill>
                    <a:srgbClr val="237ED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☁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4323921" y="2910068"/>
            <a:ext cx="2539441" cy="754971"/>
            <a:chOff x="0" y="0"/>
            <a:chExt cx="3385922" cy="10066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385925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3385922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Cloud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Applications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542552" y="2120494"/>
            <a:ext cx="2828277" cy="1867405"/>
            <a:chOff x="0" y="0"/>
            <a:chExt cx="3771036" cy="248987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771138" cy="2489962"/>
            </a:xfrm>
            <a:custGeom>
              <a:avLst/>
              <a:gdLst/>
              <a:ahLst/>
              <a:cxnLst/>
              <a:rect r="r" b="b" t="t" l="l"/>
              <a:pathLst>
                <a:path h="2489962" w="377113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3356102" y="0"/>
                  </a:lnTo>
                  <a:cubicBezTo>
                    <a:pt x="3585337" y="0"/>
                    <a:pt x="3771138" y="185801"/>
                    <a:pt x="3771138" y="415036"/>
                  </a:cubicBezTo>
                  <a:lnTo>
                    <a:pt x="3771138" y="2074926"/>
                  </a:lnTo>
                  <a:cubicBezTo>
                    <a:pt x="3771138" y="2304161"/>
                    <a:pt x="3585337" y="2489962"/>
                    <a:pt x="335610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7F2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7549696" y="2333539"/>
            <a:ext cx="2813980" cy="617706"/>
            <a:chOff x="0" y="0"/>
            <a:chExt cx="3751974" cy="8236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751969" cy="823603"/>
            </a:xfrm>
            <a:custGeom>
              <a:avLst/>
              <a:gdLst/>
              <a:ahLst/>
              <a:cxnLst/>
              <a:rect r="r" b="b" t="t" l="l"/>
              <a:pathLst>
                <a:path h="823603" w="3751969">
                  <a:moveTo>
                    <a:pt x="0" y="0"/>
                  </a:moveTo>
                  <a:lnTo>
                    <a:pt x="3751969" y="0"/>
                  </a:lnTo>
                  <a:lnTo>
                    <a:pt x="3751969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4" r="0" b="-3876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3751974" cy="899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03"/>
                </a:lnSpc>
              </a:pPr>
              <a:r>
                <a:rPr lang="en-US" sz="3752" b="true">
                  <a:solidFill>
                    <a:srgbClr val="237ED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▤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686961" y="2910068"/>
            <a:ext cx="2539441" cy="754971"/>
            <a:chOff x="0" y="0"/>
            <a:chExt cx="3385922" cy="100662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385925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385922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Files &amp;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Spreadsheets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905592" y="2120494"/>
            <a:ext cx="2828277" cy="1867405"/>
            <a:chOff x="0" y="0"/>
            <a:chExt cx="3771036" cy="248987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771138" cy="2489962"/>
            </a:xfrm>
            <a:custGeom>
              <a:avLst/>
              <a:gdLst/>
              <a:ahLst/>
              <a:cxnLst/>
              <a:rect r="r" b="b" t="t" l="l"/>
              <a:pathLst>
                <a:path h="2489962" w="377113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3356102" y="0"/>
                  </a:lnTo>
                  <a:cubicBezTo>
                    <a:pt x="3585337" y="0"/>
                    <a:pt x="3771138" y="185801"/>
                    <a:pt x="3771138" y="415036"/>
                  </a:cubicBezTo>
                  <a:lnTo>
                    <a:pt x="3771138" y="2074926"/>
                  </a:lnTo>
                  <a:cubicBezTo>
                    <a:pt x="3771138" y="2304161"/>
                    <a:pt x="3585337" y="2489962"/>
                    <a:pt x="335610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7F2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0912745" y="2333539"/>
            <a:ext cx="2813980" cy="617706"/>
            <a:chOff x="0" y="0"/>
            <a:chExt cx="3751974" cy="82360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751969" cy="823603"/>
            </a:xfrm>
            <a:custGeom>
              <a:avLst/>
              <a:gdLst/>
              <a:ahLst/>
              <a:cxnLst/>
              <a:rect r="r" b="b" t="t" l="l"/>
              <a:pathLst>
                <a:path h="823603" w="3751969">
                  <a:moveTo>
                    <a:pt x="0" y="0"/>
                  </a:moveTo>
                  <a:lnTo>
                    <a:pt x="3751969" y="0"/>
                  </a:lnTo>
                  <a:lnTo>
                    <a:pt x="3751969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4" r="0" b="-3876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76200"/>
              <a:ext cx="3751974" cy="8998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03"/>
                </a:lnSpc>
              </a:pPr>
              <a:r>
                <a:rPr lang="en-US" sz="3752" b="true">
                  <a:solidFill>
                    <a:srgbClr val="237ED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☁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050010" y="2910068"/>
            <a:ext cx="2539441" cy="754971"/>
            <a:chOff x="0" y="0"/>
            <a:chExt cx="3385922" cy="100662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385925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3385922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SaaS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Applications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4268640" y="2120494"/>
            <a:ext cx="2828277" cy="1867405"/>
            <a:chOff x="0" y="0"/>
            <a:chExt cx="3771036" cy="248987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771138" cy="2489962"/>
            </a:xfrm>
            <a:custGeom>
              <a:avLst/>
              <a:gdLst/>
              <a:ahLst/>
              <a:cxnLst/>
              <a:rect r="r" b="b" t="t" l="l"/>
              <a:pathLst>
                <a:path h="2489962" w="3771138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3356102" y="0"/>
                  </a:lnTo>
                  <a:cubicBezTo>
                    <a:pt x="3585337" y="0"/>
                    <a:pt x="3771138" y="185801"/>
                    <a:pt x="3771138" y="415036"/>
                  </a:cubicBezTo>
                  <a:lnTo>
                    <a:pt x="3771138" y="2074926"/>
                  </a:lnTo>
                  <a:cubicBezTo>
                    <a:pt x="3771138" y="2304161"/>
                    <a:pt x="3585337" y="2489962"/>
                    <a:pt x="3356102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FFFFFF"/>
            </a:solidFill>
            <a:ln w="14299" cap="sq">
              <a:solidFill>
                <a:srgbClr val="DCE7F2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4275794" y="2333539"/>
            <a:ext cx="2813980" cy="617706"/>
            <a:chOff x="0" y="0"/>
            <a:chExt cx="3751974" cy="8236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751969" cy="823603"/>
            </a:xfrm>
            <a:custGeom>
              <a:avLst/>
              <a:gdLst/>
              <a:ahLst/>
              <a:cxnLst/>
              <a:rect r="r" b="b" t="t" l="l"/>
              <a:pathLst>
                <a:path h="823603" w="3751969">
                  <a:moveTo>
                    <a:pt x="0" y="0"/>
                  </a:moveTo>
                  <a:lnTo>
                    <a:pt x="3751969" y="0"/>
                  </a:lnTo>
                  <a:lnTo>
                    <a:pt x="3751969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64" r="0" b="-3876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3751974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503"/>
                </a:lnSpc>
              </a:pPr>
              <a:r>
                <a:rPr lang="en-US" sz="3752" b="true">
                  <a:solidFill>
                    <a:srgbClr val="237E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(•)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4413059" y="2910068"/>
            <a:ext cx="2539441" cy="754971"/>
            <a:chOff x="0" y="0"/>
            <a:chExt cx="3385922" cy="100662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385925" cy="1006626"/>
            </a:xfrm>
            <a:custGeom>
              <a:avLst/>
              <a:gdLst/>
              <a:ahLst/>
              <a:cxnLst/>
              <a:rect r="r" b="b" t="t" l="l"/>
              <a:pathLst>
                <a:path h="1006626" w="3385925">
                  <a:moveTo>
                    <a:pt x="0" y="0"/>
                  </a:moveTo>
                  <a:lnTo>
                    <a:pt x="3385925" y="0"/>
                  </a:lnTo>
                  <a:lnTo>
                    <a:pt x="338592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40" r="0" b="-1554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3385922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Streaming</a:t>
              </a:r>
            </a:p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7200">
            <a:off x="2181958" y="4108494"/>
            <a:ext cx="13686720" cy="0"/>
          </a:xfrm>
          <a:prstGeom prst="line">
            <a:avLst/>
          </a:prstGeom>
          <a:ln cap="rnd" w="19050">
            <a:solidFill>
              <a:srgbClr val="64789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747817" y="4454033"/>
            <a:ext cx="16760904" cy="2279209"/>
            <a:chOff x="0" y="0"/>
            <a:chExt cx="22347872" cy="3038945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2347810" cy="3038856"/>
            </a:xfrm>
            <a:custGeom>
              <a:avLst/>
              <a:gdLst/>
              <a:ahLst/>
              <a:cxnLst/>
              <a:rect r="r" b="b" t="t" l="l"/>
              <a:pathLst>
                <a:path h="3038856" w="22347810">
                  <a:moveTo>
                    <a:pt x="0" y="506476"/>
                  </a:moveTo>
                  <a:cubicBezTo>
                    <a:pt x="0" y="226822"/>
                    <a:pt x="226822" y="0"/>
                    <a:pt x="506476" y="0"/>
                  </a:cubicBezTo>
                  <a:lnTo>
                    <a:pt x="21841333" y="0"/>
                  </a:lnTo>
                  <a:cubicBezTo>
                    <a:pt x="22121115" y="0"/>
                    <a:pt x="22347810" y="226822"/>
                    <a:pt x="22347810" y="506476"/>
                  </a:cubicBezTo>
                  <a:lnTo>
                    <a:pt x="22347810" y="2532380"/>
                  </a:lnTo>
                  <a:cubicBezTo>
                    <a:pt x="22347810" y="2812161"/>
                    <a:pt x="22120988" y="3038856"/>
                    <a:pt x="21841333" y="3038856"/>
                  </a:cubicBezTo>
                  <a:lnTo>
                    <a:pt x="506476" y="3038856"/>
                  </a:lnTo>
                  <a:cubicBezTo>
                    <a:pt x="226822" y="3038983"/>
                    <a:pt x="0" y="2812161"/>
                    <a:pt x="0" y="2532380"/>
                  </a:cubicBezTo>
                  <a:close/>
                </a:path>
              </a:pathLst>
            </a:custGeom>
            <a:solidFill>
              <a:srgbClr val="FFF7EF"/>
            </a:solidFill>
            <a:ln w="14299" cap="sq">
              <a:solidFill>
                <a:srgbClr val="F2D2B9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892235" y="4694539"/>
            <a:ext cx="16334804" cy="549069"/>
            <a:chOff x="0" y="0"/>
            <a:chExt cx="21779738" cy="73209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1779736" cy="732092"/>
            </a:xfrm>
            <a:custGeom>
              <a:avLst/>
              <a:gdLst/>
              <a:ahLst/>
              <a:cxnLst/>
              <a:rect r="r" b="b" t="t" l="l"/>
              <a:pathLst>
                <a:path h="732092" w="21779736">
                  <a:moveTo>
                    <a:pt x="0" y="0"/>
                  </a:moveTo>
                  <a:lnTo>
                    <a:pt x="21779736" y="0"/>
                  </a:lnTo>
                  <a:lnTo>
                    <a:pt x="21779736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21779738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 b="true">
                  <a:solidFill>
                    <a:srgbClr val="AA6950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Common Challenges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66774" y="5380873"/>
            <a:ext cx="713794" cy="713794"/>
            <a:chOff x="0" y="0"/>
            <a:chExt cx="951725" cy="951725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BE7864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166774" y="5394598"/>
            <a:ext cx="713794" cy="658882"/>
            <a:chOff x="0" y="0"/>
            <a:chExt cx="951725" cy="87851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MP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2059010" y="5298519"/>
            <a:ext cx="1715843" cy="892235"/>
            <a:chOff x="0" y="0"/>
            <a:chExt cx="2287791" cy="1189647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287787" cy="1189649"/>
            </a:xfrm>
            <a:custGeom>
              <a:avLst/>
              <a:gdLst/>
              <a:ahLst/>
              <a:cxnLst/>
              <a:rect r="r" b="b" t="t" l="l"/>
              <a:pathLst>
                <a:path h="1189649" w="2287787">
                  <a:moveTo>
                    <a:pt x="0" y="0"/>
                  </a:moveTo>
                  <a:lnTo>
                    <a:pt x="2287787" y="0"/>
                  </a:lnTo>
                  <a:lnTo>
                    <a:pt x="2287787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2287791" cy="1189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Multiple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platforms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4392549" y="5380873"/>
            <a:ext cx="713794" cy="713794"/>
            <a:chOff x="0" y="0"/>
            <a:chExt cx="951725" cy="951725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BE7864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4392549" y="5394598"/>
            <a:ext cx="713794" cy="658882"/>
            <a:chOff x="0" y="0"/>
            <a:chExt cx="951725" cy="87851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284784" y="5298519"/>
            <a:ext cx="1715843" cy="892235"/>
            <a:chOff x="0" y="0"/>
            <a:chExt cx="2287791" cy="118964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287787" cy="1189649"/>
            </a:xfrm>
            <a:custGeom>
              <a:avLst/>
              <a:gdLst/>
              <a:ahLst/>
              <a:cxnLst/>
              <a:rect r="r" b="b" t="t" l="l"/>
              <a:pathLst>
                <a:path h="1189649" w="2287787">
                  <a:moveTo>
                    <a:pt x="0" y="0"/>
                  </a:moveTo>
                  <a:lnTo>
                    <a:pt x="2287787" y="0"/>
                  </a:lnTo>
                  <a:lnTo>
                    <a:pt x="2287787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2287791" cy="1189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silos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618333" y="5380873"/>
            <a:ext cx="713794" cy="713794"/>
            <a:chOff x="0" y="0"/>
            <a:chExt cx="951725" cy="95172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BE7864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618333" y="5394598"/>
            <a:ext cx="713794" cy="658882"/>
            <a:chOff x="0" y="0"/>
            <a:chExt cx="951725" cy="87851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CM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8510568" y="5298519"/>
            <a:ext cx="1715843" cy="892235"/>
            <a:chOff x="0" y="0"/>
            <a:chExt cx="2287791" cy="118964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287787" cy="1189649"/>
            </a:xfrm>
            <a:custGeom>
              <a:avLst/>
              <a:gdLst/>
              <a:ahLst/>
              <a:cxnLst/>
              <a:rect r="r" b="b" t="t" l="l"/>
              <a:pathLst>
                <a:path h="1189649" w="2287787">
                  <a:moveTo>
                    <a:pt x="0" y="0"/>
                  </a:moveTo>
                  <a:lnTo>
                    <a:pt x="2287787" y="0"/>
                  </a:lnTo>
                  <a:lnTo>
                    <a:pt x="2287787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2287791" cy="1189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Complex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management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844108" y="5380873"/>
            <a:ext cx="713794" cy="713794"/>
            <a:chOff x="0" y="0"/>
            <a:chExt cx="951725" cy="95172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BE7864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10844108" y="5394598"/>
            <a:ext cx="713794" cy="658882"/>
            <a:chOff x="0" y="0"/>
            <a:chExt cx="951725" cy="87851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$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1736353" y="5298519"/>
            <a:ext cx="1715843" cy="892235"/>
            <a:chOff x="0" y="0"/>
            <a:chExt cx="2287791" cy="118964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87787" cy="1189649"/>
            </a:xfrm>
            <a:custGeom>
              <a:avLst/>
              <a:gdLst/>
              <a:ahLst/>
              <a:cxnLst/>
              <a:rect r="r" b="b" t="t" l="l"/>
              <a:pathLst>
                <a:path h="1189649" w="2287787">
                  <a:moveTo>
                    <a:pt x="0" y="0"/>
                  </a:moveTo>
                  <a:lnTo>
                    <a:pt x="2287787" y="0"/>
                  </a:lnTo>
                  <a:lnTo>
                    <a:pt x="2287787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2287791" cy="1189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Higher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costs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4069892" y="5380873"/>
            <a:ext cx="713794" cy="713794"/>
            <a:chOff x="0" y="0"/>
            <a:chExt cx="951725" cy="95172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BE7864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4069892" y="5394598"/>
            <a:ext cx="713794" cy="658882"/>
            <a:chOff x="0" y="0"/>
            <a:chExt cx="951725" cy="87851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TC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4962127" y="5298519"/>
            <a:ext cx="1715843" cy="892235"/>
            <a:chOff x="0" y="0"/>
            <a:chExt cx="2287791" cy="1189647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287787" cy="1189649"/>
            </a:xfrm>
            <a:custGeom>
              <a:avLst/>
              <a:gdLst/>
              <a:ahLst/>
              <a:cxnLst/>
              <a:rect r="r" b="b" t="t" l="l"/>
              <a:pathLst>
                <a:path h="1189649" w="2287787">
                  <a:moveTo>
                    <a:pt x="0" y="0"/>
                  </a:moveTo>
                  <a:lnTo>
                    <a:pt x="2287787" y="0"/>
                  </a:lnTo>
                  <a:lnTo>
                    <a:pt x="2287787" y="1189649"/>
                  </a:lnTo>
                  <a:lnTo>
                    <a:pt x="0" y="118964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6717" t="0" r="-16717" b="0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2287791" cy="118964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Limited</a:t>
              </a:r>
            </a:p>
            <a:p>
              <a:pPr algn="ctr">
                <a:lnSpc>
                  <a:spcPts val="2161"/>
                </a:lnSpc>
              </a:pPr>
              <a:r>
                <a:rPr lang="en-US" sz="18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collaboration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754971" y="7206529"/>
            <a:ext cx="16746607" cy="2127647"/>
            <a:chOff x="0" y="0"/>
            <a:chExt cx="22328810" cy="2836862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2328758" cy="2836799"/>
            </a:xfrm>
            <a:custGeom>
              <a:avLst/>
              <a:gdLst/>
              <a:ahLst/>
              <a:cxnLst/>
              <a:rect r="r" b="b" t="t" l="l"/>
              <a:pathLst>
                <a:path h="2836799" w="22328758">
                  <a:moveTo>
                    <a:pt x="0" y="472821"/>
                  </a:moveTo>
                  <a:cubicBezTo>
                    <a:pt x="0" y="211709"/>
                    <a:pt x="211709" y="0"/>
                    <a:pt x="472821" y="0"/>
                  </a:cubicBezTo>
                  <a:lnTo>
                    <a:pt x="21855937" y="0"/>
                  </a:lnTo>
                  <a:cubicBezTo>
                    <a:pt x="22117050" y="0"/>
                    <a:pt x="22328758" y="211709"/>
                    <a:pt x="22328758" y="472821"/>
                  </a:cubicBezTo>
                  <a:lnTo>
                    <a:pt x="22328758" y="2363978"/>
                  </a:lnTo>
                  <a:cubicBezTo>
                    <a:pt x="22328758" y="2625090"/>
                    <a:pt x="22117050" y="2836799"/>
                    <a:pt x="21855937" y="2836799"/>
                  </a:cubicBezTo>
                  <a:lnTo>
                    <a:pt x="472821" y="2836799"/>
                  </a:lnTo>
                  <a:cubicBezTo>
                    <a:pt x="211709" y="2836799"/>
                    <a:pt x="0" y="2625217"/>
                    <a:pt x="0" y="2363978"/>
                  </a:cubicBezTo>
                  <a:close/>
                </a:path>
              </a:pathLst>
            </a:custGeom>
            <a:solidFill>
              <a:srgbClr val="0E1D4A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372676" y="7481068"/>
            <a:ext cx="10020510" cy="1235402"/>
            <a:chOff x="0" y="0"/>
            <a:chExt cx="13360679" cy="164720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3360678" cy="1647207"/>
            </a:xfrm>
            <a:custGeom>
              <a:avLst/>
              <a:gdLst/>
              <a:ahLst/>
              <a:cxnLst/>
              <a:rect r="r" b="b" t="t" l="l"/>
              <a:pathLst>
                <a:path h="1647207" w="13360678">
                  <a:moveTo>
                    <a:pt x="0" y="0"/>
                  </a:moveTo>
                  <a:lnTo>
                    <a:pt x="13360678" y="0"/>
                  </a:lnTo>
                  <a:lnTo>
                    <a:pt x="13360678" y="1647207"/>
                  </a:lnTo>
                  <a:lnTo>
                    <a:pt x="0" y="164720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8045" r="0" b="-10804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13360679" cy="16472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3"/>
                </a:lnSpc>
              </a:pPr>
              <a:r>
                <a:rPr lang="en-US" sz="3452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 if you could bring everything</a:t>
              </a:r>
            </a:p>
            <a:p>
              <a:pPr algn="ctr">
                <a:lnSpc>
                  <a:spcPts val="4143"/>
                </a:lnSpc>
              </a:pPr>
              <a:r>
                <a:rPr lang="en-US" sz="3452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together in one unified platform?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1942245" y="7851686"/>
            <a:ext cx="4255284" cy="658882"/>
            <a:chOff x="0" y="0"/>
            <a:chExt cx="5673712" cy="87851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5673725" cy="878459"/>
            </a:xfrm>
            <a:custGeom>
              <a:avLst/>
              <a:gdLst/>
              <a:ahLst/>
              <a:cxnLst/>
              <a:rect r="r" b="b" t="t" l="l"/>
              <a:pathLst>
                <a:path h="878459" w="5673725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5527294" y="0"/>
                  </a:lnTo>
                  <a:cubicBezTo>
                    <a:pt x="5608193" y="0"/>
                    <a:pt x="5673725" y="65532"/>
                    <a:pt x="5673725" y="146431"/>
                  </a:cubicBezTo>
                  <a:lnTo>
                    <a:pt x="5673725" y="732028"/>
                  </a:lnTo>
                  <a:cubicBezTo>
                    <a:pt x="5673725" y="812927"/>
                    <a:pt x="5608193" y="878459"/>
                    <a:pt x="5527294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2010882" y="7879137"/>
            <a:ext cx="4118019" cy="549069"/>
            <a:chOff x="0" y="0"/>
            <a:chExt cx="5490693" cy="73209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5490690" cy="732092"/>
            </a:xfrm>
            <a:custGeom>
              <a:avLst/>
              <a:gdLst/>
              <a:ahLst/>
              <a:cxnLst/>
              <a:rect r="r" b="b" t="t" l="l"/>
              <a:pathLst>
                <a:path h="732092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549069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That's Microsoft Fabric!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8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480431"/>
            <a:ext cx="16746607" cy="754971"/>
            <a:chOff x="0" y="0"/>
            <a:chExt cx="22328810" cy="10066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28805" cy="1006626"/>
            </a:xfrm>
            <a:custGeom>
              <a:avLst/>
              <a:gdLst/>
              <a:ahLst/>
              <a:cxnLst/>
              <a:rect r="r" b="b" t="t" l="l"/>
              <a:pathLst>
                <a:path h="1006626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213" r="0" b="-3822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2328810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E1D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3. OneLake – The Heart of Fabric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6147" y="1262863"/>
            <a:ext cx="16472068" cy="617706"/>
            <a:chOff x="0" y="0"/>
            <a:chExt cx="21962758" cy="823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759" cy="823603"/>
            </a:xfrm>
            <a:custGeom>
              <a:avLst/>
              <a:gdLst/>
              <a:ahLst/>
              <a:cxnLst/>
              <a:rect r="r" b="b" t="t" l="l"/>
              <a:pathLst>
                <a:path h="823603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62758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OneLake is a unified, logical data lake that serves as the central storage for all data in Microsoft Fabric.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0872" y="2333539"/>
            <a:ext cx="713794" cy="713794"/>
            <a:chOff x="0" y="0"/>
            <a:chExt cx="951725" cy="9517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872" y="2347274"/>
            <a:ext cx="713794" cy="658882"/>
            <a:chOff x="0" y="0"/>
            <a:chExt cx="951725" cy="87851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21745" y="2306088"/>
            <a:ext cx="3637578" cy="754971"/>
            <a:chOff x="0" y="0"/>
            <a:chExt cx="4850105" cy="10066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50109" cy="1006626"/>
            </a:xfrm>
            <a:custGeom>
              <a:avLst/>
              <a:gdLst/>
              <a:ahLst/>
              <a:cxnLst/>
              <a:rect r="r" b="b" t="t" l="l"/>
              <a:pathLst>
                <a:path h="1006626" w="4850109">
                  <a:moveTo>
                    <a:pt x="0" y="0"/>
                  </a:moveTo>
                  <a:lnTo>
                    <a:pt x="4850109" y="0"/>
                  </a:lnTo>
                  <a:lnTo>
                    <a:pt x="485010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82" r="0" b="-4388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850105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Structured Data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0872" y="3500314"/>
            <a:ext cx="713794" cy="713794"/>
            <a:chOff x="0" y="0"/>
            <a:chExt cx="951725" cy="9517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0872" y="3514039"/>
            <a:ext cx="713794" cy="658882"/>
            <a:chOff x="0" y="0"/>
            <a:chExt cx="951725" cy="8785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21745" y="3472863"/>
            <a:ext cx="3637578" cy="754971"/>
            <a:chOff x="0" y="0"/>
            <a:chExt cx="4850105" cy="10066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50109" cy="1006626"/>
            </a:xfrm>
            <a:custGeom>
              <a:avLst/>
              <a:gdLst/>
              <a:ahLst/>
              <a:cxnLst/>
              <a:rect r="r" b="b" t="t" l="l"/>
              <a:pathLst>
                <a:path h="1006626" w="4850109">
                  <a:moveTo>
                    <a:pt x="0" y="0"/>
                  </a:moveTo>
                  <a:lnTo>
                    <a:pt x="4850109" y="0"/>
                  </a:lnTo>
                  <a:lnTo>
                    <a:pt x="485010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82" r="0" b="-4388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4850105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Semi-structured Data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0872" y="4667088"/>
            <a:ext cx="713794" cy="713794"/>
            <a:chOff x="0" y="0"/>
            <a:chExt cx="951725" cy="95172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60872" y="4680814"/>
            <a:ext cx="713794" cy="658882"/>
            <a:chOff x="0" y="0"/>
            <a:chExt cx="951725" cy="8785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921745" y="4639637"/>
            <a:ext cx="3637578" cy="754971"/>
            <a:chOff x="0" y="0"/>
            <a:chExt cx="4850105" cy="100662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50109" cy="1006626"/>
            </a:xfrm>
            <a:custGeom>
              <a:avLst/>
              <a:gdLst/>
              <a:ahLst/>
              <a:cxnLst/>
              <a:rect r="r" b="b" t="t" l="l"/>
              <a:pathLst>
                <a:path h="1006626" w="4850109">
                  <a:moveTo>
                    <a:pt x="0" y="0"/>
                  </a:moveTo>
                  <a:lnTo>
                    <a:pt x="4850109" y="0"/>
                  </a:lnTo>
                  <a:lnTo>
                    <a:pt x="485010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82" r="0" b="-4388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850105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Unstructured Data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0872" y="5833853"/>
            <a:ext cx="713794" cy="713794"/>
            <a:chOff x="0" y="0"/>
            <a:chExt cx="951725" cy="95172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60872" y="5847588"/>
            <a:ext cx="713794" cy="658882"/>
            <a:chOff x="0" y="0"/>
            <a:chExt cx="951725" cy="87851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921745" y="5806402"/>
            <a:ext cx="3637578" cy="754971"/>
            <a:chOff x="0" y="0"/>
            <a:chExt cx="4850105" cy="100662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850109" cy="1006626"/>
            </a:xfrm>
            <a:custGeom>
              <a:avLst/>
              <a:gdLst/>
              <a:ahLst/>
              <a:cxnLst/>
              <a:rect r="r" b="b" t="t" l="l"/>
              <a:pathLst>
                <a:path h="1006626" w="4850109">
                  <a:moveTo>
                    <a:pt x="0" y="0"/>
                  </a:moveTo>
                  <a:lnTo>
                    <a:pt x="4850109" y="0"/>
                  </a:lnTo>
                  <a:lnTo>
                    <a:pt x="485010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82" r="0" b="-4388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850105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Streaming Data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960872" y="7000627"/>
            <a:ext cx="713794" cy="713794"/>
            <a:chOff x="0" y="0"/>
            <a:chExt cx="951725" cy="95172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60872" y="7014353"/>
            <a:ext cx="713794" cy="658882"/>
            <a:chOff x="0" y="0"/>
            <a:chExt cx="951725" cy="87851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921745" y="6973176"/>
            <a:ext cx="3637578" cy="754971"/>
            <a:chOff x="0" y="0"/>
            <a:chExt cx="4850105" cy="100662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850109" cy="1006626"/>
            </a:xfrm>
            <a:custGeom>
              <a:avLst/>
              <a:gdLst/>
              <a:ahLst/>
              <a:cxnLst/>
              <a:rect r="r" b="b" t="t" l="l"/>
              <a:pathLst>
                <a:path h="1006626" w="4850109">
                  <a:moveTo>
                    <a:pt x="0" y="0"/>
                  </a:moveTo>
                  <a:lnTo>
                    <a:pt x="4850109" y="0"/>
                  </a:lnTo>
                  <a:lnTo>
                    <a:pt x="485010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882" r="0" b="-43882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850105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Applications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069264" y="2951245"/>
            <a:ext cx="3225784" cy="3225784"/>
            <a:chOff x="0" y="0"/>
            <a:chExt cx="4301046" cy="430104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300982" cy="4300982"/>
            </a:xfrm>
            <a:custGeom>
              <a:avLst/>
              <a:gdLst/>
              <a:ahLst/>
              <a:cxnLst/>
              <a:rect r="r" b="b" t="t" l="l"/>
              <a:pathLst>
                <a:path h="4300982" w="4300982">
                  <a:moveTo>
                    <a:pt x="0" y="2150491"/>
                  </a:moveTo>
                  <a:cubicBezTo>
                    <a:pt x="0" y="962787"/>
                    <a:pt x="962787" y="0"/>
                    <a:pt x="2150491" y="0"/>
                  </a:cubicBezTo>
                  <a:cubicBezTo>
                    <a:pt x="3338195" y="0"/>
                    <a:pt x="4300982" y="962787"/>
                    <a:pt x="4300982" y="2150491"/>
                  </a:cubicBezTo>
                  <a:cubicBezTo>
                    <a:pt x="4300982" y="3338195"/>
                    <a:pt x="3338195" y="4300982"/>
                    <a:pt x="2150491" y="4300982"/>
                  </a:cubicBezTo>
                  <a:cubicBezTo>
                    <a:pt x="962787" y="4300982"/>
                    <a:pt x="0" y="3338195"/>
                    <a:pt x="0" y="2150491"/>
                  </a:cubicBez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618333" y="3637578"/>
            <a:ext cx="2127647" cy="1372676"/>
            <a:chOff x="0" y="0"/>
            <a:chExt cx="2836862" cy="183023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836799" cy="1830324"/>
            </a:xfrm>
            <a:custGeom>
              <a:avLst/>
              <a:gdLst/>
              <a:ahLst/>
              <a:cxnLst/>
              <a:rect r="r" b="b" t="t" l="l"/>
              <a:pathLst>
                <a:path h="1830324" w="2836799">
                  <a:moveTo>
                    <a:pt x="0" y="915162"/>
                  </a:moveTo>
                  <a:cubicBezTo>
                    <a:pt x="0" y="409702"/>
                    <a:pt x="635000" y="0"/>
                    <a:pt x="1418463" y="0"/>
                  </a:cubicBezTo>
                  <a:cubicBezTo>
                    <a:pt x="2201926" y="0"/>
                    <a:pt x="2836799" y="409702"/>
                    <a:pt x="2836799" y="915162"/>
                  </a:cubicBezTo>
                  <a:cubicBezTo>
                    <a:pt x="2836799" y="1420622"/>
                    <a:pt x="2201799" y="1830324"/>
                    <a:pt x="1418336" y="1830324"/>
                  </a:cubicBezTo>
                  <a:cubicBezTo>
                    <a:pt x="634873" y="1830324"/>
                    <a:pt x="0" y="1420495"/>
                    <a:pt x="0" y="915162"/>
                  </a:cubicBezTo>
                  <a:close/>
                </a:path>
              </a:pathLst>
            </a:custGeom>
            <a:solidFill>
              <a:srgbClr val="30B5EB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588824" y="6382931"/>
            <a:ext cx="4118019" cy="823608"/>
            <a:chOff x="0" y="0"/>
            <a:chExt cx="5490693" cy="109814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490690" cy="1098138"/>
            </a:xfrm>
            <a:custGeom>
              <a:avLst/>
              <a:gdLst/>
              <a:ahLst/>
              <a:cxnLst/>
              <a:rect r="r" b="b" t="t" l="l"/>
              <a:pathLst>
                <a:path h="1098138" w="5490690">
                  <a:moveTo>
                    <a:pt x="0" y="0"/>
                  </a:moveTo>
                  <a:lnTo>
                    <a:pt x="5490690" y="0"/>
                  </a:lnTo>
                  <a:lnTo>
                    <a:pt x="5490690" y="1098138"/>
                  </a:lnTo>
                  <a:lnTo>
                    <a:pt x="0" y="10981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424" r="0" b="-4742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490693" cy="10981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3"/>
                </a:lnSpc>
              </a:pPr>
              <a:r>
                <a:rPr lang="en-US" sz="4203" b="true">
                  <a:solidFill>
                    <a:srgbClr val="0E1D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OneLake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6520196" y="7137892"/>
            <a:ext cx="4255284" cy="617706"/>
            <a:chOff x="0" y="0"/>
            <a:chExt cx="5673712" cy="82360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5673713" cy="823603"/>
            </a:xfrm>
            <a:custGeom>
              <a:avLst/>
              <a:gdLst/>
              <a:ahLst/>
              <a:cxnLst/>
              <a:rect r="r" b="b" t="t" l="l"/>
              <a:pathLst>
                <a:path h="823603" w="5673713">
                  <a:moveTo>
                    <a:pt x="0" y="0"/>
                  </a:moveTo>
                  <a:lnTo>
                    <a:pt x="5673713" y="0"/>
                  </a:lnTo>
                  <a:lnTo>
                    <a:pt x="567371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230" r="0" b="-8423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5673712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One place for all your data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736353" y="2333539"/>
            <a:ext cx="713794" cy="713794"/>
            <a:chOff x="0" y="0"/>
            <a:chExt cx="951725" cy="95172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2AA7D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1736353" y="2347274"/>
            <a:ext cx="713794" cy="658882"/>
            <a:chOff x="0" y="0"/>
            <a:chExt cx="951725" cy="87851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697216" y="2306088"/>
            <a:ext cx="4392549" cy="796147"/>
            <a:chOff x="0" y="0"/>
            <a:chExt cx="5856732" cy="106153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856736" cy="1061533"/>
            </a:xfrm>
            <a:custGeom>
              <a:avLst/>
              <a:gdLst/>
              <a:ahLst/>
              <a:cxnLst/>
              <a:rect r="r" b="b" t="t" l="l"/>
              <a:pathLst>
                <a:path h="1061533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503" r="0" b="-5750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5856732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Single source</a:t>
              </a:r>
            </a:p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of truth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736353" y="3500314"/>
            <a:ext cx="713794" cy="713794"/>
            <a:chOff x="0" y="0"/>
            <a:chExt cx="951725" cy="95172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2AA7D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1736353" y="3514039"/>
            <a:ext cx="713794" cy="658882"/>
            <a:chOff x="0" y="0"/>
            <a:chExt cx="951725" cy="87851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697216" y="3472863"/>
            <a:ext cx="4392549" cy="796147"/>
            <a:chOff x="0" y="0"/>
            <a:chExt cx="5856732" cy="106153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856736" cy="1061533"/>
            </a:xfrm>
            <a:custGeom>
              <a:avLst/>
              <a:gdLst/>
              <a:ahLst/>
              <a:cxnLst/>
              <a:rect r="r" b="b" t="t" l="l"/>
              <a:pathLst>
                <a:path h="1061533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503" r="0" b="-57503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5856732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No data duplication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736353" y="4667088"/>
            <a:ext cx="713794" cy="713794"/>
            <a:chOff x="0" y="0"/>
            <a:chExt cx="951725" cy="951725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2AA7D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1736353" y="4680814"/>
            <a:ext cx="713794" cy="658882"/>
            <a:chOff x="0" y="0"/>
            <a:chExt cx="951725" cy="87851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2697216" y="4639637"/>
            <a:ext cx="4392549" cy="796147"/>
            <a:chOff x="0" y="0"/>
            <a:chExt cx="5856732" cy="106153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5856736" cy="1061533"/>
            </a:xfrm>
            <a:custGeom>
              <a:avLst/>
              <a:gdLst/>
              <a:ahLst/>
              <a:cxnLst/>
              <a:rect r="r" b="b" t="t" l="l"/>
              <a:pathLst>
                <a:path h="1061533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503" r="0" b="-57503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5856732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Seamless sharing</a:t>
              </a:r>
            </a:p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across teams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1736353" y="5833853"/>
            <a:ext cx="713794" cy="713794"/>
            <a:chOff x="0" y="0"/>
            <a:chExt cx="951725" cy="951725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2AA7D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1736353" y="5847588"/>
            <a:ext cx="713794" cy="658882"/>
            <a:chOff x="0" y="0"/>
            <a:chExt cx="951725" cy="87851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2697216" y="5806402"/>
            <a:ext cx="4392549" cy="796147"/>
            <a:chOff x="0" y="0"/>
            <a:chExt cx="5856732" cy="106153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856736" cy="1061533"/>
            </a:xfrm>
            <a:custGeom>
              <a:avLst/>
              <a:gdLst/>
              <a:ahLst/>
              <a:cxnLst/>
              <a:rect r="r" b="b" t="t" l="l"/>
              <a:pathLst>
                <a:path h="1061533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503" r="0" b="-57503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5856732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Supports all data types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736353" y="7000627"/>
            <a:ext cx="713794" cy="713794"/>
            <a:chOff x="0" y="0"/>
            <a:chExt cx="951725" cy="951725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2AA7D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1736353" y="7014353"/>
            <a:ext cx="713794" cy="658882"/>
            <a:chOff x="0" y="0"/>
            <a:chExt cx="951725" cy="87851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2697216" y="6973176"/>
            <a:ext cx="4392549" cy="796147"/>
            <a:chOff x="0" y="0"/>
            <a:chExt cx="5856732" cy="106153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5856736" cy="1061533"/>
            </a:xfrm>
            <a:custGeom>
              <a:avLst/>
              <a:gdLst/>
              <a:ahLst/>
              <a:cxnLst/>
              <a:rect r="r" b="b" t="t" l="l"/>
              <a:pathLst>
                <a:path h="1061533" w="5856736">
                  <a:moveTo>
                    <a:pt x="0" y="0"/>
                  </a:moveTo>
                  <a:lnTo>
                    <a:pt x="5856736" y="0"/>
                  </a:lnTo>
                  <a:lnTo>
                    <a:pt x="5856736" y="1061533"/>
                  </a:lnTo>
                  <a:lnTo>
                    <a:pt x="0" y="106153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7503" r="0" b="-57503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5856732" cy="1061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Enterprise-grade</a:t>
              </a:r>
            </a:p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security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754971" y="8441931"/>
            <a:ext cx="16746607" cy="1166774"/>
            <a:chOff x="0" y="0"/>
            <a:chExt cx="22328810" cy="1555699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2328887" cy="1555750"/>
            </a:xfrm>
            <a:custGeom>
              <a:avLst/>
              <a:gdLst/>
              <a:ahLst/>
              <a:cxnLst/>
              <a:rect r="r" b="b" t="t" l="l"/>
              <a:pathLst>
                <a:path h="1555750" w="22328887">
                  <a:moveTo>
                    <a:pt x="0" y="259334"/>
                  </a:moveTo>
                  <a:cubicBezTo>
                    <a:pt x="0" y="116078"/>
                    <a:pt x="116078" y="0"/>
                    <a:pt x="259334" y="0"/>
                  </a:cubicBezTo>
                  <a:lnTo>
                    <a:pt x="22069552" y="0"/>
                  </a:lnTo>
                  <a:cubicBezTo>
                    <a:pt x="22212808" y="0"/>
                    <a:pt x="22328887" y="116078"/>
                    <a:pt x="22328887" y="259334"/>
                  </a:cubicBezTo>
                  <a:lnTo>
                    <a:pt x="22328887" y="1296416"/>
                  </a:lnTo>
                  <a:cubicBezTo>
                    <a:pt x="22328887" y="1439672"/>
                    <a:pt x="22212808" y="1555750"/>
                    <a:pt x="22069552" y="1555750"/>
                  </a:cubicBezTo>
                  <a:lnTo>
                    <a:pt x="259334" y="1555750"/>
                  </a:lnTo>
                  <a:cubicBezTo>
                    <a:pt x="116078" y="1555750"/>
                    <a:pt x="0" y="1439545"/>
                    <a:pt x="0" y="1296416"/>
                  </a:cubicBezTo>
                  <a:close/>
                </a:path>
              </a:pathLst>
            </a:custGeom>
            <a:solidFill>
              <a:srgbClr val="0E1D4A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098137" y="8538020"/>
            <a:ext cx="3294412" cy="617706"/>
            <a:chOff x="0" y="0"/>
            <a:chExt cx="4392549" cy="823608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392552" cy="823603"/>
            </a:xfrm>
            <a:custGeom>
              <a:avLst/>
              <a:gdLst/>
              <a:ahLst/>
              <a:cxnLst/>
              <a:rect r="r" b="b" t="t" l="l"/>
              <a:pathLst>
                <a:path h="823603" w="4392552">
                  <a:moveTo>
                    <a:pt x="0" y="0"/>
                  </a:moveTo>
                  <a:lnTo>
                    <a:pt x="4392552" y="0"/>
                  </a:lnTo>
                  <a:lnTo>
                    <a:pt x="4392552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3919" r="0" b="-5392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0"/>
              <a:ext cx="4392549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3"/>
                </a:lnSpc>
              </a:pPr>
              <a:r>
                <a:rPr lang="en-US" sz="3752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OneLake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4323921" y="8538020"/>
            <a:ext cx="4804353" cy="617706"/>
            <a:chOff x="0" y="0"/>
            <a:chExt cx="6405804" cy="823608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6405805" cy="823603"/>
            </a:xfrm>
            <a:custGeom>
              <a:avLst/>
              <a:gdLst/>
              <a:ahLst/>
              <a:cxnLst/>
              <a:rect r="r" b="b" t="t" l="l"/>
              <a:pathLst>
                <a:path h="823603" w="6405805">
                  <a:moveTo>
                    <a:pt x="0" y="0"/>
                  </a:moveTo>
                  <a:lnTo>
                    <a:pt x="6405805" y="0"/>
                  </a:lnTo>
                  <a:lnTo>
                    <a:pt x="6405805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550" r="0" b="-10155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6405804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82"/>
                </a:lnSpc>
              </a:pPr>
              <a:r>
                <a:rPr lang="en-US" sz="2401">
                  <a:solidFill>
                    <a:srgbClr val="D2E1F5"/>
                  </a:solidFill>
                  <a:latin typeface="Aptos"/>
                  <a:ea typeface="Aptos"/>
                  <a:cs typeface="Aptos"/>
                  <a:sym typeface="Aptos"/>
                </a:rPr>
                <a:t>Your Data. Without Limits.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0981382" y="8538020"/>
            <a:ext cx="5765225" cy="617706"/>
            <a:chOff x="0" y="0"/>
            <a:chExt cx="7686967" cy="82360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7686966" cy="823603"/>
            </a:xfrm>
            <a:custGeom>
              <a:avLst/>
              <a:gdLst/>
              <a:ahLst/>
              <a:cxnLst/>
              <a:rect r="r" b="b" t="t" l="l"/>
              <a:pathLst>
                <a:path h="823603" w="7686966">
                  <a:moveTo>
                    <a:pt x="0" y="0"/>
                  </a:moveTo>
                  <a:lnTo>
                    <a:pt x="7686966" y="0"/>
                  </a:lnTo>
                  <a:lnTo>
                    <a:pt x="7686966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860" r="0" b="-13186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0"/>
              <a:ext cx="7686967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341"/>
                </a:lnSpc>
              </a:pPr>
              <a:r>
                <a:rPr lang="en-US" sz="1951">
                  <a:solidFill>
                    <a:srgbClr val="FFFFFF"/>
                  </a:solidFill>
                  <a:latin typeface="Aptos"/>
                  <a:ea typeface="Aptos"/>
                  <a:cs typeface="Aptos"/>
                  <a:sym typeface="Aptos"/>
                </a:rPr>
                <a:t>Store  |  Share  |  Govern  |  Analyze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8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480431"/>
            <a:ext cx="16746607" cy="754971"/>
            <a:chOff x="0" y="0"/>
            <a:chExt cx="22328810" cy="10066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28805" cy="1006626"/>
            </a:xfrm>
            <a:custGeom>
              <a:avLst/>
              <a:gdLst/>
              <a:ahLst/>
              <a:cxnLst/>
              <a:rect r="r" b="b" t="t" l="l"/>
              <a:pathLst>
                <a:path h="1006626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213" r="0" b="-3822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2328810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E1D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4. Data Flow in Microsoft Fabric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6147" y="1262863"/>
            <a:ext cx="16472068" cy="617706"/>
            <a:chOff x="0" y="0"/>
            <a:chExt cx="21962758" cy="823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759" cy="823603"/>
            </a:xfrm>
            <a:custGeom>
              <a:avLst/>
              <a:gdLst/>
              <a:ahLst/>
              <a:cxnLst/>
              <a:rect r="r" b="b" t="t" l="l"/>
              <a:pathLst>
                <a:path h="823603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62758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From data ingestion to business insights – all within one platform.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3608" y="1990373"/>
            <a:ext cx="3088510" cy="658882"/>
            <a:chOff x="0" y="0"/>
            <a:chExt cx="4118013" cy="87851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17975" cy="878459"/>
            </a:xfrm>
            <a:custGeom>
              <a:avLst/>
              <a:gdLst/>
              <a:ahLst/>
              <a:cxnLst/>
              <a:rect r="r" b="b" t="t" l="l"/>
              <a:pathLst>
                <a:path h="878459" w="4117975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3971544" y="0"/>
                  </a:lnTo>
                  <a:cubicBezTo>
                    <a:pt x="4052443" y="0"/>
                    <a:pt x="4117975" y="65532"/>
                    <a:pt x="4117975" y="146431"/>
                  </a:cubicBezTo>
                  <a:lnTo>
                    <a:pt x="4117975" y="732028"/>
                  </a:lnTo>
                  <a:cubicBezTo>
                    <a:pt x="4117975" y="812927"/>
                    <a:pt x="4052443" y="878459"/>
                    <a:pt x="3971544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92235" y="2017833"/>
            <a:ext cx="2951245" cy="549069"/>
            <a:chOff x="0" y="0"/>
            <a:chExt cx="3934993" cy="73209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934994" cy="732092"/>
            </a:xfrm>
            <a:custGeom>
              <a:avLst/>
              <a:gdLst/>
              <a:ahLst/>
              <a:cxnLst/>
              <a:rect r="r" b="b" t="t" l="l"/>
              <a:pathLst>
                <a:path h="732092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393499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1. Ingest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227833" y="1990373"/>
            <a:ext cx="3088510" cy="658882"/>
            <a:chOff x="0" y="0"/>
            <a:chExt cx="4118013" cy="87851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17975" cy="878459"/>
            </a:xfrm>
            <a:custGeom>
              <a:avLst/>
              <a:gdLst/>
              <a:ahLst/>
              <a:cxnLst/>
              <a:rect r="r" b="b" t="t" l="l"/>
              <a:pathLst>
                <a:path h="878459" w="4117975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3971544" y="0"/>
                  </a:lnTo>
                  <a:cubicBezTo>
                    <a:pt x="4052443" y="0"/>
                    <a:pt x="4117975" y="65532"/>
                    <a:pt x="4117975" y="146431"/>
                  </a:cubicBezTo>
                  <a:lnTo>
                    <a:pt x="4117975" y="732028"/>
                  </a:lnTo>
                  <a:cubicBezTo>
                    <a:pt x="4117975" y="812927"/>
                    <a:pt x="4052443" y="878459"/>
                    <a:pt x="3971544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22AA7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296461" y="2017833"/>
            <a:ext cx="2951245" cy="549069"/>
            <a:chOff x="0" y="0"/>
            <a:chExt cx="3934993" cy="7320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34994" cy="732092"/>
            </a:xfrm>
            <a:custGeom>
              <a:avLst/>
              <a:gdLst/>
              <a:ahLst/>
              <a:cxnLst/>
              <a:rect r="r" b="b" t="t" l="l"/>
              <a:pathLst>
                <a:path h="732092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393499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2. Transform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632059" y="1990373"/>
            <a:ext cx="3088510" cy="658882"/>
            <a:chOff x="0" y="0"/>
            <a:chExt cx="4118013" cy="87851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117975" cy="878459"/>
            </a:xfrm>
            <a:custGeom>
              <a:avLst/>
              <a:gdLst/>
              <a:ahLst/>
              <a:cxnLst/>
              <a:rect r="r" b="b" t="t" l="l"/>
              <a:pathLst>
                <a:path h="878459" w="4117975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3971544" y="0"/>
                  </a:lnTo>
                  <a:cubicBezTo>
                    <a:pt x="4052443" y="0"/>
                    <a:pt x="4117975" y="65532"/>
                    <a:pt x="4117975" y="146431"/>
                  </a:cubicBezTo>
                  <a:lnTo>
                    <a:pt x="4117975" y="732028"/>
                  </a:lnTo>
                  <a:cubicBezTo>
                    <a:pt x="4117975" y="812927"/>
                    <a:pt x="4052443" y="878459"/>
                    <a:pt x="3971544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4E5BD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700686" y="2017833"/>
            <a:ext cx="2951245" cy="549069"/>
            <a:chOff x="0" y="0"/>
            <a:chExt cx="3934993" cy="7320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34994" cy="732092"/>
            </a:xfrm>
            <a:custGeom>
              <a:avLst/>
              <a:gdLst/>
              <a:ahLst/>
              <a:cxnLst/>
              <a:rect r="r" b="b" t="t" l="l"/>
              <a:pathLst>
                <a:path h="732092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393499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3. Store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036284" y="1990373"/>
            <a:ext cx="3088510" cy="658882"/>
            <a:chOff x="0" y="0"/>
            <a:chExt cx="4118013" cy="87851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117975" cy="878459"/>
            </a:xfrm>
            <a:custGeom>
              <a:avLst/>
              <a:gdLst/>
              <a:ahLst/>
              <a:cxnLst/>
              <a:rect r="r" b="b" t="t" l="l"/>
              <a:pathLst>
                <a:path h="878459" w="4117975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3971544" y="0"/>
                  </a:lnTo>
                  <a:cubicBezTo>
                    <a:pt x="4052443" y="0"/>
                    <a:pt x="4117975" y="65532"/>
                    <a:pt x="4117975" y="146431"/>
                  </a:cubicBezTo>
                  <a:lnTo>
                    <a:pt x="4117975" y="732028"/>
                  </a:lnTo>
                  <a:cubicBezTo>
                    <a:pt x="4117975" y="812927"/>
                    <a:pt x="4052443" y="878459"/>
                    <a:pt x="3971544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104921" y="2017833"/>
            <a:ext cx="2951245" cy="549069"/>
            <a:chOff x="0" y="0"/>
            <a:chExt cx="3934993" cy="7320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34994" cy="732092"/>
            </a:xfrm>
            <a:custGeom>
              <a:avLst/>
              <a:gdLst/>
              <a:ahLst/>
              <a:cxnLst/>
              <a:rect r="r" b="b" t="t" l="l"/>
              <a:pathLst>
                <a:path h="732092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393499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4. Analyze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440510" y="1990373"/>
            <a:ext cx="3088510" cy="658882"/>
            <a:chOff x="0" y="0"/>
            <a:chExt cx="4118013" cy="87851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117975" cy="878459"/>
            </a:xfrm>
            <a:custGeom>
              <a:avLst/>
              <a:gdLst/>
              <a:ahLst/>
              <a:cxnLst/>
              <a:rect r="r" b="b" t="t" l="l"/>
              <a:pathLst>
                <a:path h="878459" w="4117975">
                  <a:moveTo>
                    <a:pt x="0" y="146431"/>
                  </a:moveTo>
                  <a:cubicBezTo>
                    <a:pt x="0" y="65532"/>
                    <a:pt x="65532" y="0"/>
                    <a:pt x="146431" y="0"/>
                  </a:cubicBezTo>
                  <a:lnTo>
                    <a:pt x="3971544" y="0"/>
                  </a:lnTo>
                  <a:cubicBezTo>
                    <a:pt x="4052443" y="0"/>
                    <a:pt x="4117975" y="65532"/>
                    <a:pt x="4117975" y="146431"/>
                  </a:cubicBezTo>
                  <a:lnTo>
                    <a:pt x="4117975" y="732028"/>
                  </a:lnTo>
                  <a:cubicBezTo>
                    <a:pt x="4117975" y="812927"/>
                    <a:pt x="4052443" y="878459"/>
                    <a:pt x="3971544" y="878459"/>
                  </a:cubicBezTo>
                  <a:lnTo>
                    <a:pt x="146431" y="878459"/>
                  </a:lnTo>
                  <a:cubicBezTo>
                    <a:pt x="65532" y="878459"/>
                    <a:pt x="0" y="812927"/>
                    <a:pt x="0" y="732028"/>
                  </a:cubicBezTo>
                  <a:close/>
                </a:path>
              </a:pathLst>
            </a:custGeom>
            <a:solidFill>
              <a:srgbClr val="F5BE19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4509147" y="2017833"/>
            <a:ext cx="2951245" cy="549069"/>
            <a:chOff x="0" y="0"/>
            <a:chExt cx="3934993" cy="7320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34994" cy="732092"/>
            </a:xfrm>
            <a:custGeom>
              <a:avLst/>
              <a:gdLst/>
              <a:ahLst/>
              <a:cxnLst/>
              <a:rect r="r" b="b" t="t" l="l"/>
              <a:pathLst>
                <a:path h="732092" w="3934994">
                  <a:moveTo>
                    <a:pt x="0" y="0"/>
                  </a:moveTo>
                  <a:lnTo>
                    <a:pt x="3934994" y="0"/>
                  </a:lnTo>
                  <a:lnTo>
                    <a:pt x="3934994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4732" r="0" b="-5473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393499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0E1D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5. Visualize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880559" y="3225784"/>
            <a:ext cx="713794" cy="713794"/>
            <a:chOff x="0" y="0"/>
            <a:chExt cx="951725" cy="95172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2AA7D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880559" y="3239510"/>
            <a:ext cx="713794" cy="658882"/>
            <a:chOff x="0" y="0"/>
            <a:chExt cx="951725" cy="87851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54971" y="4049382"/>
            <a:ext cx="3157147" cy="754971"/>
            <a:chOff x="0" y="0"/>
            <a:chExt cx="4209529" cy="1006627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209529" cy="1006626"/>
            </a:xfrm>
            <a:custGeom>
              <a:avLst/>
              <a:gdLst/>
              <a:ahLst/>
              <a:cxnLst/>
              <a:rect r="r" b="b" t="t" l="l"/>
              <a:pathLst>
                <a:path h="1006626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82" r="0" b="-31482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4209529" cy="101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Factory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3608" y="4872990"/>
            <a:ext cx="3019882" cy="1441304"/>
            <a:chOff x="0" y="0"/>
            <a:chExt cx="4026510" cy="1921739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026506" cy="1921741"/>
            </a:xfrm>
            <a:custGeom>
              <a:avLst/>
              <a:gdLst/>
              <a:ahLst/>
              <a:cxnLst/>
              <a:rect r="r" b="b" t="t" l="l"/>
              <a:pathLst>
                <a:path h="1921741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1921741"/>
                  </a:lnTo>
                  <a:lnTo>
                    <a:pt x="0" y="19217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235" t="0" r="-11235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4026510" cy="1921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Connect and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ingest data from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multiple sources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5312245" y="3225784"/>
            <a:ext cx="713794" cy="713794"/>
            <a:chOff x="0" y="0"/>
            <a:chExt cx="951725" cy="95172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30B5EB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5312245" y="3239510"/>
            <a:ext cx="713794" cy="658882"/>
            <a:chOff x="0" y="0"/>
            <a:chExt cx="951725" cy="87851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4186647" y="4049382"/>
            <a:ext cx="3157147" cy="754971"/>
            <a:chOff x="0" y="0"/>
            <a:chExt cx="4209529" cy="100662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209529" cy="1006626"/>
            </a:xfrm>
            <a:custGeom>
              <a:avLst/>
              <a:gdLst/>
              <a:ahLst/>
              <a:cxnLst/>
              <a:rect r="r" b="b" t="t" l="l"/>
              <a:pathLst>
                <a:path h="1006626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82" r="0" b="-3148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4209529" cy="101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Engineering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4255284" y="4872990"/>
            <a:ext cx="3019882" cy="1441304"/>
            <a:chOff x="0" y="0"/>
            <a:chExt cx="4026510" cy="1921739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026506" cy="1921741"/>
            </a:xfrm>
            <a:custGeom>
              <a:avLst/>
              <a:gdLst/>
              <a:ahLst/>
              <a:cxnLst/>
              <a:rect r="r" b="b" t="t" l="l"/>
              <a:pathLst>
                <a:path h="1921741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1921741"/>
                  </a:lnTo>
                  <a:lnTo>
                    <a:pt x="0" y="19217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235" t="0" r="-11235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4026510" cy="1921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Transform and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process data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using Spark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743921" y="3225784"/>
            <a:ext cx="713794" cy="713794"/>
            <a:chOff x="0" y="0"/>
            <a:chExt cx="951725" cy="95172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8743921" y="3239510"/>
            <a:ext cx="713794" cy="658882"/>
            <a:chOff x="0" y="0"/>
            <a:chExt cx="951725" cy="87851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618333" y="4049382"/>
            <a:ext cx="3157147" cy="754971"/>
            <a:chOff x="0" y="0"/>
            <a:chExt cx="4209529" cy="1006627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09529" cy="1006626"/>
            </a:xfrm>
            <a:custGeom>
              <a:avLst/>
              <a:gdLst/>
              <a:ahLst/>
              <a:cxnLst/>
              <a:rect r="r" b="b" t="t" l="l"/>
              <a:pathLst>
                <a:path h="1006626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82" r="0" b="-3148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4209529" cy="101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Lakehouse</a:t>
              </a:r>
            </a:p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(OneLake)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686961" y="4872990"/>
            <a:ext cx="3019882" cy="1441304"/>
            <a:chOff x="0" y="0"/>
            <a:chExt cx="4026510" cy="192173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026506" cy="1921741"/>
            </a:xfrm>
            <a:custGeom>
              <a:avLst/>
              <a:gdLst/>
              <a:ahLst/>
              <a:cxnLst/>
              <a:rect r="r" b="b" t="t" l="l"/>
              <a:pathLst>
                <a:path h="1921741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1921741"/>
                  </a:lnTo>
                  <a:lnTo>
                    <a:pt x="0" y="19217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235" t="0" r="-11235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4026510" cy="1921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Store data in open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and performant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format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175607" y="3225784"/>
            <a:ext cx="713794" cy="713794"/>
            <a:chOff x="0" y="0"/>
            <a:chExt cx="951725" cy="95172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4E5BD2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2175607" y="3239510"/>
            <a:ext cx="713794" cy="658882"/>
            <a:chOff x="0" y="0"/>
            <a:chExt cx="951725" cy="87851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050010" y="4049382"/>
            <a:ext cx="3157147" cy="754971"/>
            <a:chOff x="0" y="0"/>
            <a:chExt cx="4209529" cy="1006627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4209529" cy="1006626"/>
            </a:xfrm>
            <a:custGeom>
              <a:avLst/>
              <a:gdLst/>
              <a:ahLst/>
              <a:cxnLst/>
              <a:rect r="r" b="b" t="t" l="l"/>
              <a:pathLst>
                <a:path h="1006626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82" r="0" b="-31482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4209529" cy="101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Warehouse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1118647" y="4872990"/>
            <a:ext cx="3019882" cy="1441304"/>
            <a:chOff x="0" y="0"/>
            <a:chExt cx="4026510" cy="1921739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026506" cy="1921741"/>
            </a:xfrm>
            <a:custGeom>
              <a:avLst/>
              <a:gdLst/>
              <a:ahLst/>
              <a:cxnLst/>
              <a:rect r="r" b="b" t="t" l="l"/>
              <a:pathLst>
                <a:path h="1921741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1921741"/>
                  </a:lnTo>
                  <a:lnTo>
                    <a:pt x="0" y="19217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235" t="0" r="-11235" b="0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4026510" cy="1921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Run analytics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on structured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data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5607284" y="3225784"/>
            <a:ext cx="713794" cy="713794"/>
            <a:chOff x="0" y="0"/>
            <a:chExt cx="951725" cy="951725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F5BE19"/>
            </a:solid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5607284" y="3239510"/>
            <a:ext cx="713794" cy="658882"/>
            <a:chOff x="0" y="0"/>
            <a:chExt cx="951725" cy="87851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14481696" y="4049382"/>
            <a:ext cx="3157147" cy="754971"/>
            <a:chOff x="0" y="0"/>
            <a:chExt cx="4209529" cy="1006627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209529" cy="1006626"/>
            </a:xfrm>
            <a:custGeom>
              <a:avLst/>
              <a:gdLst/>
              <a:ahLst/>
              <a:cxnLst/>
              <a:rect r="r" b="b" t="t" l="l"/>
              <a:pathLst>
                <a:path h="1006626" w="4209529">
                  <a:moveTo>
                    <a:pt x="0" y="0"/>
                  </a:moveTo>
                  <a:lnTo>
                    <a:pt x="4209529" y="0"/>
                  </a:lnTo>
                  <a:lnTo>
                    <a:pt x="4209529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82" r="0" b="-31482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4209529" cy="1016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Power BI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4550323" y="4872990"/>
            <a:ext cx="3019882" cy="1441304"/>
            <a:chOff x="0" y="0"/>
            <a:chExt cx="4026510" cy="1921739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026506" cy="1921741"/>
            </a:xfrm>
            <a:custGeom>
              <a:avLst/>
              <a:gdLst/>
              <a:ahLst/>
              <a:cxnLst/>
              <a:rect r="r" b="b" t="t" l="l"/>
              <a:pathLst>
                <a:path h="1921741" w="4026506">
                  <a:moveTo>
                    <a:pt x="0" y="0"/>
                  </a:moveTo>
                  <a:lnTo>
                    <a:pt x="4026506" y="0"/>
                  </a:lnTo>
                  <a:lnTo>
                    <a:pt x="4026506" y="1921741"/>
                  </a:lnTo>
                  <a:lnTo>
                    <a:pt x="0" y="19217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1235" t="0" r="-11235" b="0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4026510" cy="19217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Create interactive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dashboards and</a:t>
              </a:r>
            </a:p>
            <a:p>
              <a:pPr algn="ctr">
                <a:lnSpc>
                  <a:spcPts val="1981"/>
                </a:lnSpc>
              </a:pPr>
              <a:r>
                <a:rPr lang="en-US" sz="165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share insights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754971" y="6863363"/>
            <a:ext cx="16746607" cy="2539441"/>
            <a:chOff x="0" y="0"/>
            <a:chExt cx="22328810" cy="3385922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2328887" cy="3385947"/>
            </a:xfrm>
            <a:custGeom>
              <a:avLst/>
              <a:gdLst/>
              <a:ahLst/>
              <a:cxnLst/>
              <a:rect r="r" b="b" t="t" l="l"/>
              <a:pathLst>
                <a:path h="3385947" w="22328887">
                  <a:moveTo>
                    <a:pt x="0" y="564388"/>
                  </a:moveTo>
                  <a:cubicBezTo>
                    <a:pt x="0" y="252603"/>
                    <a:pt x="252603" y="0"/>
                    <a:pt x="564388" y="0"/>
                  </a:cubicBezTo>
                  <a:lnTo>
                    <a:pt x="21764498" y="0"/>
                  </a:lnTo>
                  <a:cubicBezTo>
                    <a:pt x="22076156" y="0"/>
                    <a:pt x="22328887" y="252603"/>
                    <a:pt x="22328887" y="564388"/>
                  </a:cubicBezTo>
                  <a:lnTo>
                    <a:pt x="22328887" y="2821559"/>
                  </a:lnTo>
                  <a:cubicBezTo>
                    <a:pt x="22328887" y="3133217"/>
                    <a:pt x="22076283" y="3385947"/>
                    <a:pt x="21764498" y="3385947"/>
                  </a:cubicBezTo>
                  <a:lnTo>
                    <a:pt x="564388" y="3385947"/>
                  </a:lnTo>
                  <a:cubicBezTo>
                    <a:pt x="252603" y="3385947"/>
                    <a:pt x="0" y="3133217"/>
                    <a:pt x="0" y="2821559"/>
                  </a:cubicBezTo>
                  <a:close/>
                </a:path>
              </a:pathLst>
            </a:custGeom>
            <a:solidFill>
              <a:srgbClr val="0E1D4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235402" y="7110441"/>
            <a:ext cx="15785735" cy="576520"/>
            <a:chOff x="0" y="0"/>
            <a:chExt cx="21047646" cy="768693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1047644" cy="768697"/>
            </a:xfrm>
            <a:custGeom>
              <a:avLst/>
              <a:gdLst/>
              <a:ahLst/>
              <a:cxnLst/>
              <a:rect r="r" b="b" t="t" l="l"/>
              <a:pathLst>
                <a:path h="768697" w="21047644">
                  <a:moveTo>
                    <a:pt x="0" y="0"/>
                  </a:moveTo>
                  <a:lnTo>
                    <a:pt x="21047644" y="0"/>
                  </a:lnTo>
                  <a:lnTo>
                    <a:pt x="21047644" y="768697"/>
                  </a:lnTo>
                  <a:lnTo>
                    <a:pt x="0" y="76869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83519" r="0" b="-483518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21047646" cy="7686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2"/>
                </a:lnSpc>
              </a:pPr>
              <a:r>
                <a:rPr lang="en-US" sz="3002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Seamless Analytics Journey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441304" y="7934049"/>
            <a:ext cx="713794" cy="713794"/>
            <a:chOff x="0" y="0"/>
            <a:chExt cx="951725" cy="95172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1441304" y="7947774"/>
            <a:ext cx="713794" cy="658882"/>
            <a:chOff x="0" y="0"/>
            <a:chExt cx="951725" cy="87851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99" id="99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100" id="100"/>
          <p:cNvGrpSpPr/>
          <p:nvPr/>
        </p:nvGrpSpPr>
        <p:grpSpPr>
          <a:xfrm rot="0">
            <a:off x="2292363" y="7934049"/>
            <a:ext cx="2402176" cy="686333"/>
            <a:chOff x="0" y="0"/>
            <a:chExt cx="3202902" cy="91511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3202902" cy="915115"/>
            </a:xfrm>
            <a:custGeom>
              <a:avLst/>
              <a:gdLst/>
              <a:ahLst/>
              <a:cxnLst/>
              <a:rect r="r" b="b" t="t" l="l"/>
              <a:pathLst>
                <a:path h="915115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0"/>
              <a:ext cx="3202902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Any Data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5490686" y="7934049"/>
            <a:ext cx="713794" cy="713794"/>
            <a:chOff x="0" y="0"/>
            <a:chExt cx="951725" cy="951725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30B5EB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5490686" y="7947774"/>
            <a:ext cx="713794" cy="658882"/>
            <a:chOff x="0" y="0"/>
            <a:chExt cx="951725" cy="87851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6341745" y="7934049"/>
            <a:ext cx="2402176" cy="686333"/>
            <a:chOff x="0" y="0"/>
            <a:chExt cx="3202902" cy="915111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202902" cy="915115"/>
            </a:xfrm>
            <a:custGeom>
              <a:avLst/>
              <a:gdLst/>
              <a:ahLst/>
              <a:cxnLst/>
              <a:rect r="r" b="b" t="t" l="l"/>
              <a:pathLst>
                <a:path h="915115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0"/>
              <a:ext cx="3202902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One Platform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9540069" y="7934049"/>
            <a:ext cx="713794" cy="713794"/>
            <a:chOff x="0" y="0"/>
            <a:chExt cx="951725" cy="951725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4E5BD2"/>
            </a:solid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9540069" y="7947774"/>
            <a:ext cx="713794" cy="658882"/>
            <a:chOff x="0" y="0"/>
            <a:chExt cx="951725" cy="87851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0391127" y="7934049"/>
            <a:ext cx="2402176" cy="686333"/>
            <a:chOff x="0" y="0"/>
            <a:chExt cx="3202902" cy="91511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3202902" cy="915115"/>
            </a:xfrm>
            <a:custGeom>
              <a:avLst/>
              <a:gdLst/>
              <a:ahLst/>
              <a:cxnLst/>
              <a:rect r="r" b="b" t="t" l="l"/>
              <a:pathLst>
                <a:path h="915115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0"/>
              <a:ext cx="3202902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Real Insights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3589460" y="7934049"/>
            <a:ext cx="713794" cy="713794"/>
            <a:chOff x="0" y="0"/>
            <a:chExt cx="951725" cy="951725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F5BE19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3589460" y="7947774"/>
            <a:ext cx="713794" cy="658882"/>
            <a:chOff x="0" y="0"/>
            <a:chExt cx="951725" cy="878510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14440510" y="7934049"/>
            <a:ext cx="2402176" cy="686333"/>
            <a:chOff x="0" y="0"/>
            <a:chExt cx="3202902" cy="915111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3202902" cy="915115"/>
            </a:xfrm>
            <a:custGeom>
              <a:avLst/>
              <a:gdLst/>
              <a:ahLst/>
              <a:cxnLst/>
              <a:rect r="r" b="b" t="t" l="l"/>
              <a:pathLst>
                <a:path h="915115" w="3202902">
                  <a:moveTo>
                    <a:pt x="0" y="0"/>
                  </a:moveTo>
                  <a:lnTo>
                    <a:pt x="3202902" y="0"/>
                  </a:lnTo>
                  <a:lnTo>
                    <a:pt x="3202902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197" r="0" b="-18197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0"/>
              <a:ext cx="3202902" cy="9151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Better Decisions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4F8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754971" y="480431"/>
            <a:ext cx="16746607" cy="754971"/>
            <a:chOff x="0" y="0"/>
            <a:chExt cx="22328810" cy="10066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328805" cy="1006626"/>
            </a:xfrm>
            <a:custGeom>
              <a:avLst/>
              <a:gdLst/>
              <a:ahLst/>
              <a:cxnLst/>
              <a:rect r="r" b="b" t="t" l="l"/>
              <a:pathLst>
                <a:path h="1006626" w="22328805">
                  <a:moveTo>
                    <a:pt x="0" y="0"/>
                  </a:moveTo>
                  <a:lnTo>
                    <a:pt x="22328805" y="0"/>
                  </a:lnTo>
                  <a:lnTo>
                    <a:pt x="22328805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2213" r="0" b="-3822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22328810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3"/>
                </a:lnSpc>
              </a:pPr>
              <a:r>
                <a:rPr lang="en-US" sz="4203" b="true">
                  <a:solidFill>
                    <a:srgbClr val="0E1D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5. Real-World Use Cases &amp;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96147" y="1262863"/>
            <a:ext cx="16472068" cy="617706"/>
            <a:chOff x="0" y="0"/>
            <a:chExt cx="21962758" cy="823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62759" cy="823603"/>
            </a:xfrm>
            <a:custGeom>
              <a:avLst/>
              <a:gdLst/>
              <a:ahLst/>
              <a:cxnLst/>
              <a:rect r="r" b="b" t="t" l="l"/>
              <a:pathLst>
                <a:path h="823603" w="21962759">
                  <a:moveTo>
                    <a:pt x="0" y="0"/>
                  </a:moveTo>
                  <a:lnTo>
                    <a:pt x="21962759" y="0"/>
                  </a:lnTo>
                  <a:lnTo>
                    <a:pt x="21962759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69600" r="0" b="-469601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1962758" cy="833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1"/>
                </a:lnSpc>
              </a:pPr>
              <a:r>
                <a:rPr lang="en-US" sz="210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Microsoft Fabric helps organizations across industries unlock the power of their data.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60872" y="2127647"/>
            <a:ext cx="7824235" cy="549069"/>
            <a:chOff x="0" y="0"/>
            <a:chExt cx="10432313" cy="73209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32311" cy="732092"/>
            </a:xfrm>
            <a:custGeom>
              <a:avLst/>
              <a:gdLst/>
              <a:ahLst/>
              <a:cxnLst/>
              <a:rect r="r" b="b" t="t" l="l"/>
              <a:pathLst>
                <a:path h="732092" w="10432311">
                  <a:moveTo>
                    <a:pt x="0" y="0"/>
                  </a:moveTo>
                  <a:lnTo>
                    <a:pt x="10432311" y="0"/>
                  </a:lnTo>
                  <a:lnTo>
                    <a:pt x="10432311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661" r="0" b="-22766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10432313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 b="true">
                  <a:solidFill>
                    <a:srgbClr val="0E1D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Real-World Use Cases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51872" y="2127647"/>
            <a:ext cx="6863363" cy="549069"/>
            <a:chOff x="0" y="0"/>
            <a:chExt cx="9151150" cy="7320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51149" cy="732092"/>
            </a:xfrm>
            <a:custGeom>
              <a:avLst/>
              <a:gdLst/>
              <a:ahLst/>
              <a:cxnLst/>
              <a:rect r="r" b="b" t="t" l="l"/>
              <a:pathLst>
                <a:path h="732092" w="9151149">
                  <a:moveTo>
                    <a:pt x="0" y="0"/>
                  </a:moveTo>
                  <a:lnTo>
                    <a:pt x="9151149" y="0"/>
                  </a:lnTo>
                  <a:lnTo>
                    <a:pt x="9151149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3563" r="0" b="-19356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9151150" cy="7320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2"/>
                </a:lnSpc>
              </a:pPr>
              <a:r>
                <a:rPr lang="en-US" sz="2702" b="true">
                  <a:solidFill>
                    <a:srgbClr val="0E1D4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Benefits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29500" y="2882608"/>
            <a:ext cx="713794" cy="713794"/>
            <a:chOff x="0" y="0"/>
            <a:chExt cx="951725" cy="9517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29500" y="2896343"/>
            <a:ext cx="713794" cy="658882"/>
            <a:chOff x="0" y="0"/>
            <a:chExt cx="951725" cy="8785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949196" y="2855157"/>
            <a:ext cx="3843480" cy="466706"/>
            <a:chOff x="0" y="0"/>
            <a:chExt cx="5124640" cy="62227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24644" cy="622278"/>
            </a:xfrm>
            <a:custGeom>
              <a:avLst/>
              <a:gdLst/>
              <a:ahLst/>
              <a:cxnLst/>
              <a:rect r="r" b="b" t="t" l="l"/>
              <a:pathLst>
                <a:path h="622278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465" r="0" b="-110464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5124640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Sales &amp; Marketing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949196" y="3294412"/>
            <a:ext cx="6794725" cy="480431"/>
            <a:chOff x="0" y="0"/>
            <a:chExt cx="9059634" cy="6405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059638" cy="640580"/>
            </a:xfrm>
            <a:custGeom>
              <a:avLst/>
              <a:gdLst/>
              <a:ahLst/>
              <a:cxnLst/>
              <a:rect r="r" b="b" t="t" l="l"/>
              <a:pathLst>
                <a:path h="640580" w="9059638">
                  <a:moveTo>
                    <a:pt x="0" y="0"/>
                  </a:moveTo>
                  <a:lnTo>
                    <a:pt x="9059638" y="0"/>
                  </a:lnTo>
                  <a:lnTo>
                    <a:pt x="905963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574" r="0" b="-225573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9059634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Customer insights &amp; campaign analytics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9500" y="4008206"/>
            <a:ext cx="713794" cy="713794"/>
            <a:chOff x="0" y="0"/>
            <a:chExt cx="951725" cy="9517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29500" y="4021931"/>
            <a:ext cx="713794" cy="658882"/>
            <a:chOff x="0" y="0"/>
            <a:chExt cx="951725" cy="87851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949196" y="3980755"/>
            <a:ext cx="3843480" cy="466706"/>
            <a:chOff x="0" y="0"/>
            <a:chExt cx="5124640" cy="62227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24644" cy="622278"/>
            </a:xfrm>
            <a:custGeom>
              <a:avLst/>
              <a:gdLst/>
              <a:ahLst/>
              <a:cxnLst/>
              <a:rect r="r" b="b" t="t" l="l"/>
              <a:pathLst>
                <a:path h="622278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465" r="0" b="-11046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5124640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Finance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949196" y="4420010"/>
            <a:ext cx="6794725" cy="480431"/>
            <a:chOff x="0" y="0"/>
            <a:chExt cx="9059634" cy="6405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059638" cy="640580"/>
            </a:xfrm>
            <a:custGeom>
              <a:avLst/>
              <a:gdLst/>
              <a:ahLst/>
              <a:cxnLst/>
              <a:rect r="r" b="b" t="t" l="l"/>
              <a:pathLst>
                <a:path h="640580" w="9059638">
                  <a:moveTo>
                    <a:pt x="0" y="0"/>
                  </a:moveTo>
                  <a:lnTo>
                    <a:pt x="9059638" y="0"/>
                  </a:lnTo>
                  <a:lnTo>
                    <a:pt x="905963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574" r="0" b="-225573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9059634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Financial reporting &amp; forecasting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9500" y="5133794"/>
            <a:ext cx="713794" cy="713794"/>
            <a:chOff x="0" y="0"/>
            <a:chExt cx="951725" cy="951725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029500" y="5147520"/>
            <a:ext cx="713794" cy="658882"/>
            <a:chOff x="0" y="0"/>
            <a:chExt cx="951725" cy="87851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49196" y="5106343"/>
            <a:ext cx="3843480" cy="466706"/>
            <a:chOff x="0" y="0"/>
            <a:chExt cx="5124640" cy="62227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124644" cy="622278"/>
            </a:xfrm>
            <a:custGeom>
              <a:avLst/>
              <a:gdLst/>
              <a:ahLst/>
              <a:cxnLst/>
              <a:rect r="r" b="b" t="t" l="l"/>
              <a:pathLst>
                <a:path h="622278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465" r="0" b="-11046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5124640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Operations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949196" y="5545598"/>
            <a:ext cx="6794725" cy="480431"/>
            <a:chOff x="0" y="0"/>
            <a:chExt cx="9059634" cy="640575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059638" cy="640580"/>
            </a:xfrm>
            <a:custGeom>
              <a:avLst/>
              <a:gdLst/>
              <a:ahLst/>
              <a:cxnLst/>
              <a:rect r="r" b="b" t="t" l="l"/>
              <a:pathLst>
                <a:path h="640580" w="9059638">
                  <a:moveTo>
                    <a:pt x="0" y="0"/>
                  </a:moveTo>
                  <a:lnTo>
                    <a:pt x="9059638" y="0"/>
                  </a:lnTo>
                  <a:lnTo>
                    <a:pt x="905963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574" r="0" b="-22557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9059634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Supply chain &amp; operational analytics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29500" y="6259382"/>
            <a:ext cx="713794" cy="713794"/>
            <a:chOff x="0" y="0"/>
            <a:chExt cx="951725" cy="95172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029500" y="6273117"/>
            <a:ext cx="713794" cy="658882"/>
            <a:chOff x="0" y="0"/>
            <a:chExt cx="951725" cy="87851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949196" y="6231931"/>
            <a:ext cx="3843480" cy="466706"/>
            <a:chOff x="0" y="0"/>
            <a:chExt cx="5124640" cy="62227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124644" cy="622278"/>
            </a:xfrm>
            <a:custGeom>
              <a:avLst/>
              <a:gdLst/>
              <a:ahLst/>
              <a:cxnLst/>
              <a:rect r="r" b="b" t="t" l="l"/>
              <a:pathLst>
                <a:path h="622278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465" r="0" b="-11046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124640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Human Resources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949196" y="6671186"/>
            <a:ext cx="6794725" cy="480431"/>
            <a:chOff x="0" y="0"/>
            <a:chExt cx="9059634" cy="640575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059638" cy="640580"/>
            </a:xfrm>
            <a:custGeom>
              <a:avLst/>
              <a:gdLst/>
              <a:ahLst/>
              <a:cxnLst/>
              <a:rect r="r" b="b" t="t" l="l"/>
              <a:pathLst>
                <a:path h="640580" w="9059638">
                  <a:moveTo>
                    <a:pt x="0" y="0"/>
                  </a:moveTo>
                  <a:lnTo>
                    <a:pt x="9059638" y="0"/>
                  </a:lnTo>
                  <a:lnTo>
                    <a:pt x="905963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574" r="0" b="-22557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9059634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Workforce analytics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29500" y="7384980"/>
            <a:ext cx="713794" cy="713794"/>
            <a:chOff x="0" y="0"/>
            <a:chExt cx="951725" cy="951725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37EDC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029500" y="7398706"/>
            <a:ext cx="713794" cy="658882"/>
            <a:chOff x="0" y="0"/>
            <a:chExt cx="951725" cy="87851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949196" y="7357520"/>
            <a:ext cx="3843480" cy="466706"/>
            <a:chOff x="0" y="0"/>
            <a:chExt cx="5124640" cy="62227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124644" cy="622278"/>
            </a:xfrm>
            <a:custGeom>
              <a:avLst/>
              <a:gdLst/>
              <a:ahLst/>
              <a:cxnLst/>
              <a:rect r="r" b="b" t="t" l="l"/>
              <a:pathLst>
                <a:path h="622278" w="5124644">
                  <a:moveTo>
                    <a:pt x="0" y="0"/>
                  </a:moveTo>
                  <a:lnTo>
                    <a:pt x="5124644" y="0"/>
                  </a:lnTo>
                  <a:lnTo>
                    <a:pt x="5124644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0465" r="0" b="-11046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5124640" cy="622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1"/>
                </a:lnSpc>
              </a:pPr>
              <a:r>
                <a:rPr lang="en-US" sz="195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Product &amp; Engineering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949196" y="7796774"/>
            <a:ext cx="6794725" cy="480431"/>
            <a:chOff x="0" y="0"/>
            <a:chExt cx="9059634" cy="64057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059638" cy="640580"/>
            </a:xfrm>
            <a:custGeom>
              <a:avLst/>
              <a:gdLst/>
              <a:ahLst/>
              <a:cxnLst/>
              <a:rect r="r" b="b" t="t" l="l"/>
              <a:pathLst>
                <a:path h="640580" w="9059638">
                  <a:moveTo>
                    <a:pt x="0" y="0"/>
                  </a:moveTo>
                  <a:lnTo>
                    <a:pt x="9059638" y="0"/>
                  </a:lnTo>
                  <a:lnTo>
                    <a:pt x="9059638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5574" r="0" b="-225573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9059634" cy="640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Product usage and telemetry analytics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020510" y="2882608"/>
            <a:ext cx="713794" cy="713794"/>
            <a:chOff x="0" y="0"/>
            <a:chExt cx="951725" cy="95172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2AA7D"/>
            </a:solid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0020510" y="2896343"/>
            <a:ext cx="713794" cy="658882"/>
            <a:chOff x="0" y="0"/>
            <a:chExt cx="951725" cy="87851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0940196" y="2855157"/>
            <a:ext cx="3431677" cy="439255"/>
            <a:chOff x="0" y="0"/>
            <a:chExt cx="4575569" cy="585673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4575575" cy="585674"/>
            </a:xfrm>
            <a:custGeom>
              <a:avLst/>
              <a:gdLst/>
              <a:ahLst/>
              <a:cxnLst/>
              <a:rect r="r" b="b" t="t" l="l"/>
              <a:pathLst>
                <a:path h="585674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4575569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Unified Platform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0940196" y="3266961"/>
            <a:ext cx="6245657" cy="439255"/>
            <a:chOff x="0" y="0"/>
            <a:chExt cx="8327542" cy="585673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327546" cy="585674"/>
            </a:xfrm>
            <a:custGeom>
              <a:avLst/>
              <a:gdLst/>
              <a:ahLst/>
              <a:cxnLst/>
              <a:rect r="r" b="b" t="t" l="l"/>
              <a:pathLst>
                <a:path h="585674" w="8327546">
                  <a:moveTo>
                    <a:pt x="0" y="0"/>
                  </a:moveTo>
                  <a:lnTo>
                    <a:pt x="8327546" y="0"/>
                  </a:lnTo>
                  <a:lnTo>
                    <a:pt x="832754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052" r="0" b="-227052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8327542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Reduce complexity and costs.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0020510" y="3816029"/>
            <a:ext cx="713794" cy="713794"/>
            <a:chOff x="0" y="0"/>
            <a:chExt cx="951725" cy="95172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2AA7D"/>
            </a:solid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10020510" y="3829755"/>
            <a:ext cx="713794" cy="658882"/>
            <a:chOff x="0" y="0"/>
            <a:chExt cx="951725" cy="87851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0940196" y="3788578"/>
            <a:ext cx="3431677" cy="439255"/>
            <a:chOff x="0" y="0"/>
            <a:chExt cx="4575569" cy="585673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4575575" cy="585674"/>
            </a:xfrm>
            <a:custGeom>
              <a:avLst/>
              <a:gdLst/>
              <a:ahLst/>
              <a:cxnLst/>
              <a:rect r="r" b="b" t="t" l="l"/>
              <a:pathLst>
                <a:path h="585674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4575569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Faster Time to Insights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10940196" y="4200382"/>
            <a:ext cx="6245657" cy="439255"/>
            <a:chOff x="0" y="0"/>
            <a:chExt cx="8327542" cy="585673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8327546" cy="585674"/>
            </a:xfrm>
            <a:custGeom>
              <a:avLst/>
              <a:gdLst/>
              <a:ahLst/>
              <a:cxnLst/>
              <a:rect r="r" b="b" t="t" l="l"/>
              <a:pathLst>
                <a:path h="585674" w="8327546">
                  <a:moveTo>
                    <a:pt x="0" y="0"/>
                  </a:moveTo>
                  <a:lnTo>
                    <a:pt x="8327546" y="0"/>
                  </a:lnTo>
                  <a:lnTo>
                    <a:pt x="832754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052" r="0" b="-227052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8327542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Make data-driven decisions.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0020510" y="4749451"/>
            <a:ext cx="713794" cy="713794"/>
            <a:chOff x="0" y="0"/>
            <a:chExt cx="951725" cy="951725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2AA7D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0020510" y="4763176"/>
            <a:ext cx="713794" cy="658882"/>
            <a:chOff x="0" y="0"/>
            <a:chExt cx="951725" cy="87851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0940196" y="4721990"/>
            <a:ext cx="3431677" cy="439255"/>
            <a:chOff x="0" y="0"/>
            <a:chExt cx="4575569" cy="58567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575575" cy="585674"/>
            </a:xfrm>
            <a:custGeom>
              <a:avLst/>
              <a:gdLst/>
              <a:ahLst/>
              <a:cxnLst/>
              <a:rect r="r" b="b" t="t" l="l"/>
              <a:pathLst>
                <a:path h="585674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4575569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Scalability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0940196" y="5133794"/>
            <a:ext cx="6245657" cy="439255"/>
            <a:chOff x="0" y="0"/>
            <a:chExt cx="8327542" cy="58567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8327546" cy="585674"/>
            </a:xfrm>
            <a:custGeom>
              <a:avLst/>
              <a:gdLst/>
              <a:ahLst/>
              <a:cxnLst/>
              <a:rect r="r" b="b" t="t" l="l"/>
              <a:pathLst>
                <a:path h="585674" w="8327546">
                  <a:moveTo>
                    <a:pt x="0" y="0"/>
                  </a:moveTo>
                  <a:lnTo>
                    <a:pt x="8327546" y="0"/>
                  </a:lnTo>
                  <a:lnTo>
                    <a:pt x="832754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052" r="0" b="-227052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8327542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Grow easily with your data.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0020510" y="5682863"/>
            <a:ext cx="713794" cy="713794"/>
            <a:chOff x="0" y="0"/>
            <a:chExt cx="951725" cy="95172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2AA7D"/>
            </a:solidFill>
          </p:spPr>
        </p:sp>
      </p:grpSp>
      <p:grpSp>
        <p:nvGrpSpPr>
          <p:cNvPr name="Group 106" id="106"/>
          <p:cNvGrpSpPr/>
          <p:nvPr/>
        </p:nvGrpSpPr>
        <p:grpSpPr>
          <a:xfrm rot="0">
            <a:off x="10020510" y="5696588"/>
            <a:ext cx="713794" cy="658882"/>
            <a:chOff x="0" y="0"/>
            <a:chExt cx="951725" cy="878510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10940196" y="5655412"/>
            <a:ext cx="3431677" cy="439255"/>
            <a:chOff x="0" y="0"/>
            <a:chExt cx="4575569" cy="585673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4575575" cy="585674"/>
            </a:xfrm>
            <a:custGeom>
              <a:avLst/>
              <a:gdLst/>
              <a:ahLst/>
              <a:cxnLst/>
              <a:rect r="r" b="b" t="t" l="l"/>
              <a:pathLst>
                <a:path h="585674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4575569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Better Collaboration</a:t>
              </a:r>
            </a:p>
          </p:txBody>
        </p:sp>
      </p:grpSp>
      <p:grpSp>
        <p:nvGrpSpPr>
          <p:cNvPr name="Group 112" id="112"/>
          <p:cNvGrpSpPr/>
          <p:nvPr/>
        </p:nvGrpSpPr>
        <p:grpSpPr>
          <a:xfrm rot="0">
            <a:off x="10940196" y="6067215"/>
            <a:ext cx="6245657" cy="439255"/>
            <a:chOff x="0" y="0"/>
            <a:chExt cx="8327542" cy="585673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8327546" cy="585674"/>
            </a:xfrm>
            <a:custGeom>
              <a:avLst/>
              <a:gdLst/>
              <a:ahLst/>
              <a:cxnLst/>
              <a:rect r="r" b="b" t="t" l="l"/>
              <a:pathLst>
                <a:path h="585674" w="8327546">
                  <a:moveTo>
                    <a:pt x="0" y="0"/>
                  </a:moveTo>
                  <a:lnTo>
                    <a:pt x="8327546" y="0"/>
                  </a:lnTo>
                  <a:lnTo>
                    <a:pt x="832754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052" r="0" b="-227052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8327542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One data, many teams.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0020510" y="6616284"/>
            <a:ext cx="713794" cy="713794"/>
            <a:chOff x="0" y="0"/>
            <a:chExt cx="951725" cy="95172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2AA7D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10020510" y="6630010"/>
            <a:ext cx="713794" cy="658882"/>
            <a:chOff x="0" y="0"/>
            <a:chExt cx="951725" cy="878510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119" id="119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120" id="120"/>
          <p:cNvGrpSpPr/>
          <p:nvPr/>
        </p:nvGrpSpPr>
        <p:grpSpPr>
          <a:xfrm rot="0">
            <a:off x="10940196" y="6588824"/>
            <a:ext cx="3431677" cy="439255"/>
            <a:chOff x="0" y="0"/>
            <a:chExt cx="4575569" cy="585673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4575575" cy="585674"/>
            </a:xfrm>
            <a:custGeom>
              <a:avLst/>
              <a:gdLst/>
              <a:ahLst/>
              <a:cxnLst/>
              <a:rect r="r" b="b" t="t" l="l"/>
              <a:pathLst>
                <a:path h="585674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4575569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Integration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0940196" y="7000627"/>
            <a:ext cx="6245657" cy="439255"/>
            <a:chOff x="0" y="0"/>
            <a:chExt cx="8327542" cy="585673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8327546" cy="585674"/>
            </a:xfrm>
            <a:custGeom>
              <a:avLst/>
              <a:gdLst/>
              <a:ahLst/>
              <a:cxnLst/>
              <a:rect r="r" b="b" t="t" l="l"/>
              <a:pathLst>
                <a:path h="585674" w="8327546">
                  <a:moveTo>
                    <a:pt x="0" y="0"/>
                  </a:moveTo>
                  <a:lnTo>
                    <a:pt x="8327546" y="0"/>
                  </a:lnTo>
                  <a:lnTo>
                    <a:pt x="832754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052" r="0" b="-227052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0"/>
              <a:ext cx="8327542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Ready for the next generation.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10020510" y="7549696"/>
            <a:ext cx="713794" cy="713794"/>
            <a:chOff x="0" y="0"/>
            <a:chExt cx="951725" cy="951725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951738" cy="951738"/>
            </a:xfrm>
            <a:custGeom>
              <a:avLst/>
              <a:gdLst/>
              <a:ahLst/>
              <a:cxnLst/>
              <a:rect r="r" b="b" t="t" l="l"/>
              <a:pathLst>
                <a:path h="951738" w="951738">
                  <a:moveTo>
                    <a:pt x="0" y="475869"/>
                  </a:moveTo>
                  <a:cubicBezTo>
                    <a:pt x="0" y="213106"/>
                    <a:pt x="213106" y="0"/>
                    <a:pt x="475869" y="0"/>
                  </a:cubicBezTo>
                  <a:cubicBezTo>
                    <a:pt x="738632" y="0"/>
                    <a:pt x="951738" y="213106"/>
                    <a:pt x="951738" y="475869"/>
                  </a:cubicBezTo>
                  <a:cubicBezTo>
                    <a:pt x="951738" y="738632"/>
                    <a:pt x="738632" y="951738"/>
                    <a:pt x="475869" y="951738"/>
                  </a:cubicBezTo>
                  <a:cubicBezTo>
                    <a:pt x="213106" y="951738"/>
                    <a:pt x="0" y="738632"/>
                    <a:pt x="0" y="475869"/>
                  </a:cubicBezTo>
                  <a:close/>
                </a:path>
              </a:pathLst>
            </a:custGeom>
            <a:solidFill>
              <a:srgbClr val="22AA7D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10020510" y="7563421"/>
            <a:ext cx="713794" cy="658882"/>
            <a:chOff x="0" y="0"/>
            <a:chExt cx="951725" cy="878510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951720" cy="878510"/>
            </a:xfrm>
            <a:custGeom>
              <a:avLst/>
              <a:gdLst/>
              <a:ahLst/>
              <a:cxnLst/>
              <a:rect r="r" b="b" t="t" l="l"/>
              <a:pathLst>
                <a:path h="878510" w="951720">
                  <a:moveTo>
                    <a:pt x="0" y="0"/>
                  </a:moveTo>
                  <a:lnTo>
                    <a:pt x="951720" y="0"/>
                  </a:lnTo>
                  <a:lnTo>
                    <a:pt x="951720" y="878510"/>
                  </a:lnTo>
                  <a:lnTo>
                    <a:pt x="0" y="87851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68433" t="0" r="-68434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0"/>
              <a:ext cx="951725" cy="878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1"/>
                </a:lnSpc>
              </a:pPr>
              <a:r>
                <a:rPr lang="en-US" sz="195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0940196" y="7522245"/>
            <a:ext cx="3431677" cy="439255"/>
            <a:chOff x="0" y="0"/>
            <a:chExt cx="4575569" cy="585673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575575" cy="585674"/>
            </a:xfrm>
            <a:custGeom>
              <a:avLst/>
              <a:gdLst/>
              <a:ahLst/>
              <a:cxnLst/>
              <a:rect r="r" b="b" t="t" l="l"/>
              <a:pathLst>
                <a:path h="585674" w="4575575">
                  <a:moveTo>
                    <a:pt x="0" y="0"/>
                  </a:moveTo>
                  <a:lnTo>
                    <a:pt x="4575575" y="0"/>
                  </a:lnTo>
                  <a:lnTo>
                    <a:pt x="4575575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2226" r="0" b="-102226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0"/>
              <a:ext cx="4575569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1"/>
                </a:lnSpc>
              </a:pPr>
              <a:r>
                <a:rPr lang="en-US" sz="1801" b="true">
                  <a:solidFill>
                    <a:srgbClr val="2237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Secure &amp; Governed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0940196" y="7934049"/>
            <a:ext cx="6245657" cy="439255"/>
            <a:chOff x="0" y="0"/>
            <a:chExt cx="8327542" cy="585673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8327546" cy="585674"/>
            </a:xfrm>
            <a:custGeom>
              <a:avLst/>
              <a:gdLst/>
              <a:ahLst/>
              <a:cxnLst/>
              <a:rect r="r" b="b" t="t" l="l"/>
              <a:pathLst>
                <a:path h="585674" w="8327546">
                  <a:moveTo>
                    <a:pt x="0" y="0"/>
                  </a:moveTo>
                  <a:lnTo>
                    <a:pt x="8327546" y="0"/>
                  </a:lnTo>
                  <a:lnTo>
                    <a:pt x="8327546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27052" r="0" b="-227052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0"/>
              <a:ext cx="8327542" cy="5856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1"/>
                </a:lnSpc>
              </a:pPr>
              <a:r>
                <a:rPr lang="en-US" sz="1501">
                  <a:solidFill>
                    <a:srgbClr val="647891"/>
                  </a:solidFill>
                  <a:latin typeface="Aptos"/>
                  <a:ea typeface="Aptos"/>
                  <a:cs typeface="Aptos"/>
                  <a:sym typeface="Aptos"/>
                </a:rPr>
                <a:t>Enterprise-grade security.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754971" y="8853735"/>
            <a:ext cx="16746607" cy="754971"/>
            <a:chOff x="0" y="0"/>
            <a:chExt cx="22328810" cy="1006627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22328758" cy="1006602"/>
            </a:xfrm>
            <a:custGeom>
              <a:avLst/>
              <a:gdLst/>
              <a:ahLst/>
              <a:cxnLst/>
              <a:rect r="r" b="b" t="t" l="l"/>
              <a:pathLst>
                <a:path h="1006602" w="22328758">
                  <a:moveTo>
                    <a:pt x="0" y="167767"/>
                  </a:moveTo>
                  <a:cubicBezTo>
                    <a:pt x="0" y="75057"/>
                    <a:pt x="75057" y="0"/>
                    <a:pt x="167767" y="0"/>
                  </a:cubicBezTo>
                  <a:lnTo>
                    <a:pt x="22160992" y="0"/>
                  </a:lnTo>
                  <a:cubicBezTo>
                    <a:pt x="22253702" y="0"/>
                    <a:pt x="22328758" y="75057"/>
                    <a:pt x="22328758" y="167767"/>
                  </a:cubicBezTo>
                  <a:lnTo>
                    <a:pt x="22328758" y="838835"/>
                  </a:lnTo>
                  <a:cubicBezTo>
                    <a:pt x="22328758" y="931545"/>
                    <a:pt x="22253702" y="1006602"/>
                    <a:pt x="22160992" y="1006602"/>
                  </a:cubicBezTo>
                  <a:lnTo>
                    <a:pt x="167767" y="1006602"/>
                  </a:lnTo>
                  <a:cubicBezTo>
                    <a:pt x="75057" y="1006602"/>
                    <a:pt x="0" y="931545"/>
                    <a:pt x="0" y="838835"/>
                  </a:cubicBezTo>
                  <a:close/>
                </a:path>
              </a:pathLst>
            </a:custGeom>
            <a:solidFill>
              <a:srgbClr val="0E1D4A"/>
            </a:solid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1098137" y="8922372"/>
            <a:ext cx="16060264" cy="549069"/>
            <a:chOff x="0" y="0"/>
            <a:chExt cx="21413686" cy="73209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1413690" cy="732092"/>
            </a:xfrm>
            <a:custGeom>
              <a:avLst/>
              <a:gdLst/>
              <a:ahLst/>
              <a:cxnLst/>
              <a:rect r="r" b="b" t="t" l="l"/>
              <a:pathLst>
                <a:path h="732092" w="21413690">
                  <a:moveTo>
                    <a:pt x="0" y="0"/>
                  </a:moveTo>
                  <a:lnTo>
                    <a:pt x="21413690" y="0"/>
                  </a:lnTo>
                  <a:lnTo>
                    <a:pt x="2141369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19937" r="0" b="-519937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9525"/>
              <a:ext cx="21413686" cy="7416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1"/>
                </a:lnSpc>
              </a:pPr>
              <a:r>
                <a:rPr lang="en-US" sz="21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Empowering Organizations to Achieve More with Their Data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E1D4A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72676" y="1029500"/>
            <a:ext cx="466706" cy="466706"/>
            <a:chOff x="0" y="0"/>
            <a:chExt cx="622275" cy="6222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518541" y="0"/>
                  </a:lnTo>
                  <a:cubicBezTo>
                    <a:pt x="575818" y="0"/>
                    <a:pt x="622300" y="46482"/>
                    <a:pt x="622300" y="103759"/>
                  </a:cubicBezTo>
                  <a:lnTo>
                    <a:pt x="622300" y="518541"/>
                  </a:lnTo>
                  <a:cubicBezTo>
                    <a:pt x="622300" y="575818"/>
                    <a:pt x="575818" y="622300"/>
                    <a:pt x="518541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30B5EB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90373" y="1029500"/>
            <a:ext cx="466706" cy="466706"/>
            <a:chOff x="0" y="0"/>
            <a:chExt cx="622275" cy="6222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518541" y="0"/>
                  </a:lnTo>
                  <a:cubicBezTo>
                    <a:pt x="575818" y="0"/>
                    <a:pt x="622300" y="46482"/>
                    <a:pt x="622300" y="103759"/>
                  </a:cubicBezTo>
                  <a:lnTo>
                    <a:pt x="622300" y="518541"/>
                  </a:lnTo>
                  <a:cubicBezTo>
                    <a:pt x="622300" y="575818"/>
                    <a:pt x="575818" y="622300"/>
                    <a:pt x="518541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22AA7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08078" y="1029500"/>
            <a:ext cx="466706" cy="466706"/>
            <a:chOff x="0" y="0"/>
            <a:chExt cx="622275" cy="6222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22300" cy="622300"/>
            </a:xfrm>
            <a:custGeom>
              <a:avLst/>
              <a:gdLst/>
              <a:ahLst/>
              <a:cxnLst/>
              <a:rect r="r" b="b" t="t" l="l"/>
              <a:pathLst>
                <a:path h="622300" w="622300">
                  <a:moveTo>
                    <a:pt x="0" y="103759"/>
                  </a:moveTo>
                  <a:cubicBezTo>
                    <a:pt x="0" y="46482"/>
                    <a:pt x="46482" y="0"/>
                    <a:pt x="103759" y="0"/>
                  </a:cubicBezTo>
                  <a:lnTo>
                    <a:pt x="518541" y="0"/>
                  </a:lnTo>
                  <a:cubicBezTo>
                    <a:pt x="575818" y="0"/>
                    <a:pt x="622300" y="46482"/>
                    <a:pt x="622300" y="103759"/>
                  </a:cubicBezTo>
                  <a:lnTo>
                    <a:pt x="622300" y="518541"/>
                  </a:lnTo>
                  <a:cubicBezTo>
                    <a:pt x="622300" y="575818"/>
                    <a:pt x="575818" y="622300"/>
                    <a:pt x="518541" y="622300"/>
                  </a:cubicBezTo>
                  <a:lnTo>
                    <a:pt x="103759" y="622300"/>
                  </a:lnTo>
                  <a:cubicBezTo>
                    <a:pt x="46482" y="622300"/>
                    <a:pt x="0" y="575818"/>
                    <a:pt x="0" y="518541"/>
                  </a:cubicBezTo>
                  <a:close/>
                </a:path>
              </a:pathLst>
            </a:custGeom>
            <a:solidFill>
              <a:srgbClr val="4E5BD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372676" y="3500314"/>
            <a:ext cx="15511196" cy="1372676"/>
            <a:chOff x="0" y="0"/>
            <a:chExt cx="20681594" cy="18302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0681598" cy="1830230"/>
            </a:xfrm>
            <a:custGeom>
              <a:avLst/>
              <a:gdLst/>
              <a:ahLst/>
              <a:cxnLst/>
              <a:rect r="r" b="b" t="t" l="l"/>
              <a:pathLst>
                <a:path h="1830230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830230"/>
                  </a:lnTo>
                  <a:lnTo>
                    <a:pt x="0" y="18302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0180" r="0" b="-170181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0"/>
              <a:ext cx="20681594" cy="18302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8646"/>
                </a:lnSpc>
              </a:pPr>
              <a:r>
                <a:rPr lang="en-US" sz="720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Thank You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72676" y="5078892"/>
            <a:ext cx="15511196" cy="754971"/>
            <a:chOff x="0" y="0"/>
            <a:chExt cx="20681594" cy="10066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81598" cy="1006626"/>
            </a:xfrm>
            <a:custGeom>
              <a:avLst/>
              <a:gdLst/>
              <a:ahLst/>
              <a:cxnLst/>
              <a:rect r="r" b="b" t="t" l="l"/>
              <a:pathLst>
                <a:path h="1006626" w="20681598">
                  <a:moveTo>
                    <a:pt x="0" y="0"/>
                  </a:moveTo>
                  <a:lnTo>
                    <a:pt x="20681598" y="0"/>
                  </a:lnTo>
                  <a:lnTo>
                    <a:pt x="20681598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0328" r="0" b="-350328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20681594" cy="10066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2"/>
                </a:lnSpc>
              </a:pPr>
              <a:r>
                <a:rPr lang="en-US" sz="2702">
                  <a:solidFill>
                    <a:srgbClr val="D7E6FA"/>
                  </a:solidFill>
                  <a:latin typeface="Aptos"/>
                  <a:ea typeface="Aptos"/>
                  <a:cs typeface="Aptos"/>
                  <a:sym typeface="Aptos"/>
                </a:rPr>
                <a:t>Microsoft Fabric • One Platform • Endless Possibilities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706216" y="7206529"/>
            <a:ext cx="10912745" cy="1166774"/>
            <a:chOff x="0" y="0"/>
            <a:chExt cx="14550326" cy="155569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4550391" cy="1555750"/>
            </a:xfrm>
            <a:custGeom>
              <a:avLst/>
              <a:gdLst/>
              <a:ahLst/>
              <a:cxnLst/>
              <a:rect r="r" b="b" t="t" l="l"/>
              <a:pathLst>
                <a:path h="1555750" w="14550391">
                  <a:moveTo>
                    <a:pt x="0" y="259334"/>
                  </a:moveTo>
                  <a:cubicBezTo>
                    <a:pt x="0" y="116078"/>
                    <a:pt x="116078" y="0"/>
                    <a:pt x="259334" y="0"/>
                  </a:cubicBezTo>
                  <a:lnTo>
                    <a:pt x="14291056" y="0"/>
                  </a:lnTo>
                  <a:cubicBezTo>
                    <a:pt x="14434313" y="0"/>
                    <a:pt x="14550391" y="116078"/>
                    <a:pt x="14550391" y="259334"/>
                  </a:cubicBezTo>
                  <a:lnTo>
                    <a:pt x="14550391" y="1296416"/>
                  </a:lnTo>
                  <a:cubicBezTo>
                    <a:pt x="14550391" y="1439672"/>
                    <a:pt x="14434313" y="1555750"/>
                    <a:pt x="14291056" y="1555750"/>
                  </a:cubicBezTo>
                  <a:lnTo>
                    <a:pt x="259334" y="1555750"/>
                  </a:lnTo>
                  <a:cubicBezTo>
                    <a:pt x="116078" y="1555750"/>
                    <a:pt x="0" y="1439545"/>
                    <a:pt x="0" y="1296416"/>
                  </a:cubicBezTo>
                  <a:close/>
                </a:path>
              </a:pathLst>
            </a:custGeom>
            <a:solidFill>
              <a:srgbClr val="163067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4049382" y="7453608"/>
            <a:ext cx="10226411" cy="617706"/>
            <a:chOff x="0" y="0"/>
            <a:chExt cx="13635215" cy="82360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635213" cy="823603"/>
            </a:xfrm>
            <a:custGeom>
              <a:avLst/>
              <a:gdLst/>
              <a:ahLst/>
              <a:cxnLst/>
              <a:rect r="r" b="b" t="t" l="l"/>
              <a:pathLst>
                <a:path h="823603" w="13635213">
                  <a:moveTo>
                    <a:pt x="0" y="0"/>
                  </a:moveTo>
                  <a:lnTo>
                    <a:pt x="13635213" y="0"/>
                  </a:lnTo>
                  <a:lnTo>
                    <a:pt x="13635213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2585" r="0" b="-27258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3635215" cy="823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82"/>
                </a:lnSpc>
              </a:pPr>
              <a:r>
                <a:rPr lang="en-US" sz="2401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From Data to Brighter Tomorrow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DAHZdmmHYJ4</dc:identifier>
  <dcterms:modified xsi:type="dcterms:W3CDTF">2011-08-01T06:04:30Z</dcterms:modified>
  <cp:revision>1</cp:revision>
  <dc:title>Microsoft_Fabric_Final_6_Slides.pptx</dc:title>
</cp:coreProperties>
</file>