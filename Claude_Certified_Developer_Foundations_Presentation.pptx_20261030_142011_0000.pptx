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ptos Bold" charset="1" panose="020B0004020202020204"/>
      <p:regular r:id="rId13"/>
    </p:embeddedFont>
    <p:embeddedFont>
      <p:font typeface="Aptos" charset="1" panose="020B00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6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9500" y="892235"/>
            <a:ext cx="988324" cy="988324"/>
            <a:chOff x="0" y="0"/>
            <a:chExt cx="1317765" cy="1317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7752" cy="1317752"/>
            </a:xfrm>
            <a:custGeom>
              <a:avLst/>
              <a:gdLst/>
              <a:ahLst/>
              <a:cxnLst/>
              <a:rect r="r" b="b" t="t" l="l"/>
              <a:pathLst>
                <a:path h="1317752" w="131775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98169" y="0"/>
                  </a:lnTo>
                  <a:cubicBezTo>
                    <a:pt x="1219454" y="0"/>
                    <a:pt x="1317752" y="98298"/>
                    <a:pt x="1317752" y="219583"/>
                  </a:cubicBezTo>
                  <a:lnTo>
                    <a:pt x="1317752" y="1098169"/>
                  </a:lnTo>
                  <a:cubicBezTo>
                    <a:pt x="1317752" y="1219454"/>
                    <a:pt x="1219454" y="1317752"/>
                    <a:pt x="1098169" y="1317752"/>
                  </a:cubicBezTo>
                  <a:lnTo>
                    <a:pt x="219583" y="1317752"/>
                  </a:lnTo>
                  <a:cubicBezTo>
                    <a:pt x="98298" y="1317752"/>
                    <a:pt x="0" y="1219454"/>
                    <a:pt x="0" y="1098169"/>
                  </a:cubicBezTo>
                  <a:close/>
                </a:path>
              </a:pathLst>
            </a:custGeom>
            <a:solidFill>
              <a:srgbClr val="BE523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23726" y="892235"/>
            <a:ext cx="988324" cy="1578569"/>
            <a:chOff x="0" y="0"/>
            <a:chExt cx="1317765" cy="2104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7752" cy="2104771"/>
            </a:xfrm>
            <a:custGeom>
              <a:avLst/>
              <a:gdLst/>
              <a:ahLst/>
              <a:cxnLst/>
              <a:rect r="r" b="b" t="t" l="l"/>
              <a:pathLst>
                <a:path h="2104771" w="131775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98169" y="0"/>
                  </a:lnTo>
                  <a:cubicBezTo>
                    <a:pt x="1219454" y="0"/>
                    <a:pt x="1317752" y="98298"/>
                    <a:pt x="1317752" y="219583"/>
                  </a:cubicBezTo>
                  <a:lnTo>
                    <a:pt x="1317752" y="1885188"/>
                  </a:lnTo>
                  <a:cubicBezTo>
                    <a:pt x="1317752" y="2006473"/>
                    <a:pt x="1219454" y="2104771"/>
                    <a:pt x="1098169" y="2104771"/>
                  </a:cubicBezTo>
                  <a:lnTo>
                    <a:pt x="219583" y="2104771"/>
                  </a:lnTo>
                  <a:cubicBezTo>
                    <a:pt x="98298" y="2104771"/>
                    <a:pt x="0" y="2006473"/>
                    <a:pt x="0" y="1885188"/>
                  </a:cubicBezTo>
                  <a:close/>
                </a:path>
              </a:pathLst>
            </a:custGeom>
            <a:solidFill>
              <a:srgbClr val="E0844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17951" y="892235"/>
            <a:ext cx="988324" cy="754971"/>
            <a:chOff x="0" y="0"/>
            <a:chExt cx="1317765" cy="1006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317752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149985" y="0"/>
                  </a:lnTo>
                  <a:cubicBezTo>
                    <a:pt x="1242695" y="0"/>
                    <a:pt x="1317752" y="75057"/>
                    <a:pt x="1317752" y="167767"/>
                  </a:cubicBezTo>
                  <a:lnTo>
                    <a:pt x="1317752" y="838835"/>
                  </a:lnTo>
                  <a:cubicBezTo>
                    <a:pt x="1317752" y="931545"/>
                    <a:pt x="1242695" y="1006602"/>
                    <a:pt x="1149985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CDA44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62127" y="7755598"/>
            <a:ext cx="988324" cy="988324"/>
            <a:chOff x="0" y="0"/>
            <a:chExt cx="1317765" cy="1317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7752" cy="1317752"/>
            </a:xfrm>
            <a:custGeom>
              <a:avLst/>
              <a:gdLst/>
              <a:ahLst/>
              <a:cxnLst/>
              <a:rect r="r" b="b" t="t" l="l"/>
              <a:pathLst>
                <a:path h="1317752" w="131775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98169" y="0"/>
                  </a:lnTo>
                  <a:cubicBezTo>
                    <a:pt x="1219454" y="0"/>
                    <a:pt x="1317752" y="98298"/>
                    <a:pt x="1317752" y="219583"/>
                  </a:cubicBezTo>
                  <a:lnTo>
                    <a:pt x="1317752" y="1098169"/>
                  </a:lnTo>
                  <a:cubicBezTo>
                    <a:pt x="1317752" y="1219454"/>
                    <a:pt x="1219454" y="1317752"/>
                    <a:pt x="1098169" y="1317752"/>
                  </a:cubicBezTo>
                  <a:lnTo>
                    <a:pt x="219583" y="1317752"/>
                  </a:lnTo>
                  <a:cubicBezTo>
                    <a:pt x="98298" y="1317752"/>
                    <a:pt x="0" y="1219454"/>
                    <a:pt x="0" y="1098169"/>
                  </a:cubicBezTo>
                  <a:close/>
                </a:path>
              </a:pathLst>
            </a:custGeom>
            <a:solidFill>
              <a:srgbClr val="E084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156353" y="7137892"/>
            <a:ext cx="988324" cy="1606029"/>
            <a:chOff x="0" y="0"/>
            <a:chExt cx="1317765" cy="21413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7752" cy="2141347"/>
            </a:xfrm>
            <a:custGeom>
              <a:avLst/>
              <a:gdLst/>
              <a:ahLst/>
              <a:cxnLst/>
              <a:rect r="r" b="b" t="t" l="l"/>
              <a:pathLst>
                <a:path h="2141347" w="131775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98169" y="0"/>
                  </a:lnTo>
                  <a:cubicBezTo>
                    <a:pt x="1219454" y="0"/>
                    <a:pt x="1317752" y="98298"/>
                    <a:pt x="1317752" y="219583"/>
                  </a:cubicBezTo>
                  <a:lnTo>
                    <a:pt x="1317752" y="1921764"/>
                  </a:lnTo>
                  <a:cubicBezTo>
                    <a:pt x="1317752" y="2043049"/>
                    <a:pt x="1219454" y="2141347"/>
                    <a:pt x="1098169" y="2141347"/>
                  </a:cubicBezTo>
                  <a:lnTo>
                    <a:pt x="219583" y="2141347"/>
                  </a:lnTo>
                  <a:cubicBezTo>
                    <a:pt x="98298" y="2141347"/>
                    <a:pt x="0" y="2043049"/>
                    <a:pt x="0" y="1921764"/>
                  </a:cubicBez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32744" y="2781538"/>
            <a:ext cx="15191051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51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CLAUDE + AI AGENTS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0009" y="3957838"/>
            <a:ext cx="14916512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F4DCBE"/>
                </a:solidFill>
                <a:latin typeface="Aptos Bold"/>
                <a:ea typeface="Aptos Bold"/>
                <a:cs typeface="Aptos Bold"/>
                <a:sym typeface="Aptos Bold"/>
              </a:rPr>
              <a:t>Claude Certified Developer Foundations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0450" y="5193240"/>
            <a:ext cx="13955649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Building Reliable, Secure &amp; Intelligent AI-Powered Applications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0450" y="7389514"/>
            <a:ext cx="1395564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Presented by Shruti Pawar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50450" y="8281759"/>
            <a:ext cx="1395564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D7CDC3"/>
                </a:solidFill>
                <a:latin typeface="Aptos"/>
                <a:ea typeface="Aptos"/>
                <a:cs typeface="Aptos"/>
                <a:sym typeface="Aptos"/>
              </a:rPr>
              <a:t>Developer Foundations • Agents • APIs • Prompt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567338"/>
            <a:ext cx="1628918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1. The Modern AI Development 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9764" y="1418396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Moving from simple prompts to reliable, production-ready AI applications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2120494"/>
            <a:ext cx="5299091" cy="2485111"/>
            <a:chOff x="0" y="0"/>
            <a:chExt cx="7065454" cy="33134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65390" cy="3313430"/>
            </a:xfrm>
            <a:custGeom>
              <a:avLst/>
              <a:gdLst/>
              <a:ahLst/>
              <a:cxnLst/>
              <a:rect r="r" b="b" t="t" l="l"/>
              <a:pathLst>
                <a:path h="3313430" w="706539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513195" y="0"/>
                  </a:lnTo>
                  <a:cubicBezTo>
                    <a:pt x="6818249" y="0"/>
                    <a:pt x="7065390" y="247269"/>
                    <a:pt x="7065390" y="552196"/>
                  </a:cubicBezTo>
                  <a:lnTo>
                    <a:pt x="7065390" y="2761234"/>
                  </a:lnTo>
                  <a:cubicBezTo>
                    <a:pt x="7065390" y="3066288"/>
                    <a:pt x="6818122" y="3313430"/>
                    <a:pt x="6513195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2127647"/>
            <a:ext cx="96088" cy="2470814"/>
            <a:chOff x="0" y="0"/>
            <a:chExt cx="128118" cy="3294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43" cy="3294380"/>
            </a:xfrm>
            <a:custGeom>
              <a:avLst/>
              <a:gdLst/>
              <a:ahLst/>
              <a:cxnLst/>
              <a:rect r="r" b="b" t="t" l="l"/>
              <a:pathLst>
                <a:path h="329438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5665" y="2379259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Context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665" y="3024416"/>
            <a:ext cx="4580296" cy="13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AI applications need the right context, instructions and data to produce useful results.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71866" y="2120494"/>
            <a:ext cx="5299091" cy="2485111"/>
            <a:chOff x="0" y="0"/>
            <a:chExt cx="7065454" cy="33134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5390" cy="3313430"/>
            </a:xfrm>
            <a:custGeom>
              <a:avLst/>
              <a:gdLst/>
              <a:ahLst/>
              <a:cxnLst/>
              <a:rect r="r" b="b" t="t" l="l"/>
              <a:pathLst>
                <a:path h="3313430" w="706539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513195" y="0"/>
                  </a:lnTo>
                  <a:cubicBezTo>
                    <a:pt x="6818249" y="0"/>
                    <a:pt x="7065390" y="247269"/>
                    <a:pt x="7065390" y="552196"/>
                  </a:cubicBezTo>
                  <a:lnTo>
                    <a:pt x="7065390" y="2761234"/>
                  </a:lnTo>
                  <a:cubicBezTo>
                    <a:pt x="7065390" y="3066288"/>
                    <a:pt x="6818122" y="3313430"/>
                    <a:pt x="6513195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479010" y="2127647"/>
            <a:ext cx="96088" cy="2470814"/>
            <a:chOff x="0" y="0"/>
            <a:chExt cx="128118" cy="3294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43" cy="3294380"/>
            </a:xfrm>
            <a:custGeom>
              <a:avLst/>
              <a:gdLst/>
              <a:ahLst/>
              <a:cxnLst/>
              <a:rect r="r" b="b" t="t" l="l"/>
              <a:pathLst>
                <a:path h="329438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E0844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72440" y="2379259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Reliability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2440" y="3024416"/>
            <a:ext cx="4580296" cy="13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Agents must handle tools, errors, outputs and multi-step tasks consistently.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8640" y="2120494"/>
            <a:ext cx="5299091" cy="2485111"/>
            <a:chOff x="0" y="0"/>
            <a:chExt cx="7065454" cy="33134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65390" cy="3313430"/>
            </a:xfrm>
            <a:custGeom>
              <a:avLst/>
              <a:gdLst/>
              <a:ahLst/>
              <a:cxnLst/>
              <a:rect r="r" b="b" t="t" l="l"/>
              <a:pathLst>
                <a:path h="3313430" w="7065390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513195" y="0"/>
                  </a:lnTo>
                  <a:cubicBezTo>
                    <a:pt x="6818249" y="0"/>
                    <a:pt x="7065390" y="247269"/>
                    <a:pt x="7065390" y="552196"/>
                  </a:cubicBezTo>
                  <a:lnTo>
                    <a:pt x="7065390" y="2761234"/>
                  </a:lnTo>
                  <a:cubicBezTo>
                    <a:pt x="7065390" y="3066288"/>
                    <a:pt x="6818122" y="3313430"/>
                    <a:pt x="6513195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65784" y="2127647"/>
            <a:ext cx="96088" cy="2470814"/>
            <a:chOff x="0" y="0"/>
            <a:chExt cx="128118" cy="32944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143" cy="3294380"/>
            </a:xfrm>
            <a:custGeom>
              <a:avLst/>
              <a:gdLst/>
              <a:ahLst/>
              <a:cxnLst/>
              <a:rect r="r" b="b" t="t" l="l"/>
              <a:pathLst>
                <a:path h="329438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48785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59214" y="2379259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Security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9214" y="3024416"/>
            <a:ext cx="4580296" cy="13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Secrets, identities, permissions and application boundaries must be protected.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5092" y="5071739"/>
            <a:ext cx="8113062" cy="2485111"/>
            <a:chOff x="0" y="0"/>
            <a:chExt cx="10817416" cy="33134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17352" cy="3313430"/>
            </a:xfrm>
            <a:custGeom>
              <a:avLst/>
              <a:gdLst/>
              <a:ahLst/>
              <a:cxnLst/>
              <a:rect r="r" b="b" t="t" l="l"/>
              <a:pathLst>
                <a:path h="3313430" w="10817352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10265156" y="0"/>
                  </a:lnTo>
                  <a:cubicBezTo>
                    <a:pt x="10570210" y="0"/>
                    <a:pt x="10817352" y="247269"/>
                    <a:pt x="10817352" y="552196"/>
                  </a:cubicBezTo>
                  <a:lnTo>
                    <a:pt x="10817352" y="2761234"/>
                  </a:lnTo>
                  <a:cubicBezTo>
                    <a:pt x="10817352" y="3066288"/>
                    <a:pt x="10570083" y="3313430"/>
                    <a:pt x="10265156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2235" y="5078892"/>
            <a:ext cx="96088" cy="2470814"/>
            <a:chOff x="0" y="0"/>
            <a:chExt cx="128118" cy="32944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143" cy="3294380"/>
            </a:xfrm>
            <a:custGeom>
              <a:avLst/>
              <a:gdLst/>
              <a:ahLst/>
              <a:cxnLst/>
              <a:rect r="r" b="b" t="t" l="l"/>
              <a:pathLst>
                <a:path h="329438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CDA44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85665" y="5330504"/>
            <a:ext cx="743545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Developer Productivity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665" y="5975661"/>
            <a:ext cx="7394267" cy="13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AI-assisted development can accelerate coding, debugging, documentation and application design.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54474" y="5071739"/>
            <a:ext cx="8003248" cy="2485111"/>
            <a:chOff x="0" y="0"/>
            <a:chExt cx="10670997" cy="33134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0921" cy="3313430"/>
            </a:xfrm>
            <a:custGeom>
              <a:avLst/>
              <a:gdLst/>
              <a:ahLst/>
              <a:cxnLst/>
              <a:rect r="r" b="b" t="t" l="l"/>
              <a:pathLst>
                <a:path h="3313430" w="10670921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10118725" y="0"/>
                  </a:lnTo>
                  <a:cubicBezTo>
                    <a:pt x="10423779" y="0"/>
                    <a:pt x="10670921" y="247269"/>
                    <a:pt x="10670921" y="552196"/>
                  </a:cubicBezTo>
                  <a:lnTo>
                    <a:pt x="10670921" y="2761234"/>
                  </a:lnTo>
                  <a:cubicBezTo>
                    <a:pt x="10670921" y="3066288"/>
                    <a:pt x="10423652" y="3313430"/>
                    <a:pt x="10118725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361627" y="5078892"/>
            <a:ext cx="96088" cy="2470814"/>
            <a:chOff x="0" y="0"/>
            <a:chExt cx="128118" cy="32944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143" cy="3294380"/>
            </a:xfrm>
            <a:custGeom>
              <a:avLst/>
              <a:gdLst/>
              <a:ahLst/>
              <a:cxnLst/>
              <a:rect r="r" b="b" t="t" l="l"/>
              <a:pathLst>
                <a:path h="329438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654C3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755057" y="5330504"/>
            <a:ext cx="732563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The Goal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55057" y="5975661"/>
            <a:ext cx="7284453" cy="13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Build AI systems that are useful, controllable, observable and safe — not just impressive demos.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0" y="9855784"/>
            <a:ext cx="18301840" cy="439255"/>
            <a:chOff x="0" y="0"/>
            <a:chExt cx="24402453" cy="5856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402414" cy="585724"/>
            </a:xfrm>
            <a:custGeom>
              <a:avLst/>
              <a:gdLst/>
              <a:ahLst/>
              <a:cxnLst/>
              <a:rect r="r" b="b" t="t" l="l"/>
              <a:pathLst>
                <a:path h="58572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61E1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46411" y="9905714"/>
            <a:ext cx="16563727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Claude • AI Agents • Developer Foundations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567338"/>
            <a:ext cx="1628918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2. Claude Developer Foundations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9764" y="1418396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Core concepts that connect models, applications, tools and agent behavior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2051856"/>
            <a:ext cx="5299091" cy="2759640"/>
            <a:chOff x="0" y="0"/>
            <a:chExt cx="7065454" cy="3679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2059010"/>
            <a:ext cx="96088" cy="2745343"/>
            <a:chOff x="0" y="0"/>
            <a:chExt cx="128118" cy="3660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5665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Claude API Mechanics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665" y="2955788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Requests → model → response</a:t>
            </a:r>
          </a:p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Understand messages, parameters, outputs and application integration.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71866" y="2051856"/>
            <a:ext cx="5299091" cy="2759640"/>
            <a:chOff x="0" y="0"/>
            <a:chExt cx="7065454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479010" y="2059010"/>
            <a:ext cx="96088" cy="2745343"/>
            <a:chOff x="0" y="0"/>
            <a:chExt cx="128118" cy="36604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E0844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72440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LLM &amp; Model Fundamentals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2440" y="2955788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Choose models based on capability, latency, cost and task complexity.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8640" y="2051856"/>
            <a:ext cx="5299091" cy="2759640"/>
            <a:chOff x="0" y="0"/>
            <a:chExt cx="7065454" cy="3679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65784" y="2059010"/>
            <a:ext cx="96088" cy="2745343"/>
            <a:chOff x="0" y="0"/>
            <a:chExt cx="128118" cy="36604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CDA44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59214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Prompt Engineering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9214" y="2955788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Clear instructions + context + constraints + examples → more reliable outputs.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5092" y="5277641"/>
            <a:ext cx="5299091" cy="2759640"/>
            <a:chOff x="0" y="0"/>
            <a:chExt cx="7065454" cy="3679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2235" y="5284784"/>
            <a:ext cx="96088" cy="2745343"/>
            <a:chOff x="0" y="0"/>
            <a:chExt cx="128118" cy="36604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48785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85665" y="5536406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Context Engineering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665" y="6181563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Give the model the right information at the right time while managing context efficiently.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71866" y="5277641"/>
            <a:ext cx="5299091" cy="2759640"/>
            <a:chOff x="0" y="0"/>
            <a:chExt cx="7065454" cy="3679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479010" y="5284784"/>
            <a:ext cx="96088" cy="2745343"/>
            <a:chOff x="0" y="0"/>
            <a:chExt cx="128118" cy="36604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654C3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872440" y="5536406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Output Handling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72440" y="6181563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Validate, parse and safely use model outputs inside your application.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058640" y="5277641"/>
            <a:ext cx="5299091" cy="2759640"/>
            <a:chOff x="0" y="0"/>
            <a:chExt cx="7065454" cy="3679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065784" y="5284784"/>
            <a:ext cx="96088" cy="2745343"/>
            <a:chOff x="0" y="0"/>
            <a:chExt cx="128118" cy="36604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459214" y="5536406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Cost &amp; Token Management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59214" y="6181563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Control context size, token usage and model selection to build efficient solutions.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0" y="9855784"/>
            <a:ext cx="18301840" cy="439255"/>
            <a:chOff x="0" y="0"/>
            <a:chExt cx="24402453" cy="585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402414" cy="585724"/>
            </a:xfrm>
            <a:custGeom>
              <a:avLst/>
              <a:gdLst/>
              <a:ahLst/>
              <a:cxnLst/>
              <a:rect r="r" b="b" t="t" l="l"/>
              <a:pathLst>
                <a:path h="58572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61E1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46411" y="9905714"/>
            <a:ext cx="16563727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Claude • AI Agents • Developer Foundations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567338"/>
            <a:ext cx="1628918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3. Agent Architecture — From Prompt to Action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9764" y="1418396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An AI agent combines reasoning, tools, context and application logic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47817" y="2806827"/>
            <a:ext cx="2828277" cy="1867405"/>
            <a:chOff x="0" y="0"/>
            <a:chExt cx="3771036" cy="24898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2813980"/>
            <a:ext cx="2813980" cy="123539"/>
            <a:chOff x="0" y="0"/>
            <a:chExt cx="3751974" cy="164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961" cy="164719"/>
            </a:xfrm>
            <a:custGeom>
              <a:avLst/>
              <a:gdLst/>
              <a:ahLst/>
              <a:cxnLst/>
              <a:rect r="r" b="b" t="t" l="l"/>
              <a:pathLst>
                <a:path h="164719" w="3751961">
                  <a:moveTo>
                    <a:pt x="0" y="0"/>
                  </a:moveTo>
                  <a:lnTo>
                    <a:pt x="3751961" y="0"/>
                  </a:lnTo>
                  <a:lnTo>
                    <a:pt x="3751961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1126" y="3175416"/>
            <a:ext cx="228793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BE5237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1126" y="3751936"/>
            <a:ext cx="2287934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Goal / Request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60391" y="3486922"/>
            <a:ext cx="476002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48131" y="2806827"/>
            <a:ext cx="2828277" cy="1867405"/>
            <a:chOff x="0" y="0"/>
            <a:chExt cx="3771036" cy="24898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255284" y="2813980"/>
            <a:ext cx="2813980" cy="123539"/>
            <a:chOff x="0" y="0"/>
            <a:chExt cx="3751974" cy="1647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51961" cy="164719"/>
            </a:xfrm>
            <a:custGeom>
              <a:avLst/>
              <a:gdLst/>
              <a:ahLst/>
              <a:cxnLst/>
              <a:rect r="r" b="b" t="t" l="l"/>
              <a:pathLst>
                <a:path h="164719" w="3751961">
                  <a:moveTo>
                    <a:pt x="0" y="0"/>
                  </a:moveTo>
                  <a:lnTo>
                    <a:pt x="3751961" y="0"/>
                  </a:lnTo>
                  <a:lnTo>
                    <a:pt x="3751961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E0844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511450" y="3175416"/>
            <a:ext cx="228793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E08443"/>
                </a:solidFill>
                <a:latin typeface="Aptos Bold"/>
                <a:ea typeface="Aptos Bold"/>
                <a:cs typeface="Aptos Bold"/>
                <a:sym typeface="Aptos Bold"/>
              </a:rPr>
              <a:t>CLAUDE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11450" y="3751936"/>
            <a:ext cx="2287934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Reason + Decide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60704" y="3486922"/>
            <a:ext cx="476002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748445" y="2806827"/>
            <a:ext cx="2828277" cy="1867405"/>
            <a:chOff x="0" y="0"/>
            <a:chExt cx="3771036" cy="24898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755598" y="2813980"/>
            <a:ext cx="2813980" cy="123539"/>
            <a:chOff x="0" y="0"/>
            <a:chExt cx="3751974" cy="1647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51961" cy="164719"/>
            </a:xfrm>
            <a:custGeom>
              <a:avLst/>
              <a:gdLst/>
              <a:ahLst/>
              <a:cxnLst/>
              <a:rect r="r" b="b" t="t" l="l"/>
              <a:pathLst>
                <a:path h="164719" w="3751961">
                  <a:moveTo>
                    <a:pt x="0" y="0"/>
                  </a:moveTo>
                  <a:lnTo>
                    <a:pt x="3751961" y="0"/>
                  </a:lnTo>
                  <a:lnTo>
                    <a:pt x="3751961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CDA44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011763" y="3175416"/>
            <a:ext cx="228793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CDA44C"/>
                </a:solidFill>
                <a:latin typeface="Aptos Bold"/>
                <a:ea typeface="Aptos Bold"/>
                <a:cs typeface="Aptos Bold"/>
                <a:sym typeface="Aptos Bold"/>
              </a:rPr>
              <a:t>TOOLS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11763" y="3751936"/>
            <a:ext cx="2287934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Search / API / Code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1018" y="3486922"/>
            <a:ext cx="476002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248758" y="2806827"/>
            <a:ext cx="2828277" cy="1867405"/>
            <a:chOff x="0" y="0"/>
            <a:chExt cx="3771036" cy="24898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255912" y="2813980"/>
            <a:ext cx="2813980" cy="123539"/>
            <a:chOff x="0" y="0"/>
            <a:chExt cx="3751974" cy="1647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1961" cy="164719"/>
            </a:xfrm>
            <a:custGeom>
              <a:avLst/>
              <a:gdLst/>
              <a:ahLst/>
              <a:cxnLst/>
              <a:rect r="r" b="b" t="t" l="l"/>
              <a:pathLst>
                <a:path h="164719" w="3751961">
                  <a:moveTo>
                    <a:pt x="0" y="0"/>
                  </a:moveTo>
                  <a:lnTo>
                    <a:pt x="3751961" y="0"/>
                  </a:lnTo>
                  <a:lnTo>
                    <a:pt x="3751961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48785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512077" y="3175416"/>
            <a:ext cx="228793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487856"/>
                </a:solidFill>
                <a:latin typeface="Aptos Bold"/>
                <a:ea typeface="Aptos Bold"/>
                <a:cs typeface="Aptos Bold"/>
                <a:sym typeface="Aptos Bold"/>
              </a:rPr>
              <a:t>RESULT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12077" y="3751936"/>
            <a:ext cx="2287934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Observe + Validate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61332" y="3486922"/>
            <a:ext cx="476002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749082" y="2806827"/>
            <a:ext cx="2828277" cy="1867405"/>
            <a:chOff x="0" y="0"/>
            <a:chExt cx="3771036" cy="248987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756225" y="2813980"/>
            <a:ext cx="2813980" cy="123539"/>
            <a:chOff x="0" y="0"/>
            <a:chExt cx="3751974" cy="1647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51961" cy="164719"/>
            </a:xfrm>
            <a:custGeom>
              <a:avLst/>
              <a:gdLst/>
              <a:ahLst/>
              <a:cxnLst/>
              <a:rect r="r" b="b" t="t" l="l"/>
              <a:pathLst>
                <a:path h="164719" w="3751961">
                  <a:moveTo>
                    <a:pt x="0" y="0"/>
                  </a:moveTo>
                  <a:lnTo>
                    <a:pt x="3751961" y="0"/>
                  </a:lnTo>
                  <a:lnTo>
                    <a:pt x="3751961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654C39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5012391" y="3175416"/>
            <a:ext cx="228793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654C39"/>
                </a:solidFill>
                <a:latin typeface="Aptos Bold"/>
                <a:ea typeface="Aptos Bold"/>
                <a:cs typeface="Aptos Bold"/>
                <a:sym typeface="Aptos Bold"/>
              </a:rPr>
              <a:t>ACTION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012391" y="3751936"/>
            <a:ext cx="2287934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Respond / Execute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6842" y="5605043"/>
            <a:ext cx="15602855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Example: “Find the latest customer issue and draft a response.”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571425" y="6513043"/>
            <a:ext cx="4681385" cy="2004670"/>
            <a:chOff x="0" y="0"/>
            <a:chExt cx="6241847" cy="267289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41923" cy="2672969"/>
            </a:xfrm>
            <a:custGeom>
              <a:avLst/>
              <a:gdLst/>
              <a:ahLst/>
              <a:cxnLst/>
              <a:rect r="r" b="b" t="t" l="l"/>
              <a:pathLst>
                <a:path h="2672969" w="624192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5796407" y="0"/>
                  </a:lnTo>
                  <a:cubicBezTo>
                    <a:pt x="6042406" y="0"/>
                    <a:pt x="6241923" y="199517"/>
                    <a:pt x="6241923" y="445516"/>
                  </a:cubicBezTo>
                  <a:lnTo>
                    <a:pt x="6241923" y="2227453"/>
                  </a:lnTo>
                  <a:cubicBezTo>
                    <a:pt x="6241923" y="2473452"/>
                    <a:pt x="6042406" y="2672969"/>
                    <a:pt x="579640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578569" y="6520196"/>
            <a:ext cx="96088" cy="1990373"/>
            <a:chOff x="0" y="0"/>
            <a:chExt cx="128118" cy="26538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143" cy="2653792"/>
            </a:xfrm>
            <a:custGeom>
              <a:avLst/>
              <a:gdLst/>
              <a:ahLst/>
              <a:cxnLst/>
              <a:rect r="r" b="b" t="t" l="l"/>
              <a:pathLst>
                <a:path h="265379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971999" y="6771818"/>
            <a:ext cx="400376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1. Understand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71999" y="7416975"/>
            <a:ext cx="3962590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Claude interprets the request and required context.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801307" y="6513043"/>
            <a:ext cx="4681385" cy="2004670"/>
            <a:chOff x="0" y="0"/>
            <a:chExt cx="6241847" cy="267289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41923" cy="2672969"/>
            </a:xfrm>
            <a:custGeom>
              <a:avLst/>
              <a:gdLst/>
              <a:ahLst/>
              <a:cxnLst/>
              <a:rect r="r" b="b" t="t" l="l"/>
              <a:pathLst>
                <a:path h="2672969" w="624192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5796407" y="0"/>
                  </a:lnTo>
                  <a:cubicBezTo>
                    <a:pt x="6042406" y="0"/>
                    <a:pt x="6241923" y="199517"/>
                    <a:pt x="6241923" y="445516"/>
                  </a:cubicBezTo>
                  <a:lnTo>
                    <a:pt x="6241923" y="2227453"/>
                  </a:lnTo>
                  <a:cubicBezTo>
                    <a:pt x="6241923" y="2473452"/>
                    <a:pt x="6042406" y="2672969"/>
                    <a:pt x="579640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808451" y="6520196"/>
            <a:ext cx="96088" cy="1990373"/>
            <a:chOff x="0" y="0"/>
            <a:chExt cx="128118" cy="26538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143" cy="2653792"/>
            </a:xfrm>
            <a:custGeom>
              <a:avLst/>
              <a:gdLst/>
              <a:ahLst/>
              <a:cxnLst/>
              <a:rect r="r" b="b" t="t" l="l"/>
              <a:pathLst>
                <a:path h="265379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E08443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201881" y="6771818"/>
            <a:ext cx="400376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2. Use Tools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201881" y="7416975"/>
            <a:ext cx="3962590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Agent can retrieve data or call an approved API/tool.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031189" y="6513043"/>
            <a:ext cx="4681385" cy="2004670"/>
            <a:chOff x="0" y="0"/>
            <a:chExt cx="6241847" cy="267289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241923" cy="2672969"/>
            </a:xfrm>
            <a:custGeom>
              <a:avLst/>
              <a:gdLst/>
              <a:ahLst/>
              <a:cxnLst/>
              <a:rect r="r" b="b" t="t" l="l"/>
              <a:pathLst>
                <a:path h="2672969" w="6241923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5796407" y="0"/>
                  </a:lnTo>
                  <a:cubicBezTo>
                    <a:pt x="6042406" y="0"/>
                    <a:pt x="6241923" y="199517"/>
                    <a:pt x="6241923" y="445516"/>
                  </a:cubicBezTo>
                  <a:lnTo>
                    <a:pt x="6241923" y="2227453"/>
                  </a:lnTo>
                  <a:cubicBezTo>
                    <a:pt x="6241923" y="2473452"/>
                    <a:pt x="6042406" y="2672969"/>
                    <a:pt x="5796407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038333" y="6520196"/>
            <a:ext cx="96088" cy="1990373"/>
            <a:chOff x="0" y="0"/>
            <a:chExt cx="128118" cy="26538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143" cy="2653792"/>
            </a:xfrm>
            <a:custGeom>
              <a:avLst/>
              <a:gdLst/>
              <a:ahLst/>
              <a:cxnLst/>
              <a:rect r="r" b="b" t="t" l="l"/>
              <a:pathLst>
                <a:path h="265379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487856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2431763" y="6771818"/>
            <a:ext cx="400376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3. Deliver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431763" y="7416975"/>
            <a:ext cx="3962590" cy="9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Validate the result and return a useful response.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0" y="9855784"/>
            <a:ext cx="18301840" cy="439255"/>
            <a:chOff x="0" y="0"/>
            <a:chExt cx="24402453" cy="58567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402414" cy="585724"/>
            </a:xfrm>
            <a:custGeom>
              <a:avLst/>
              <a:gdLst/>
              <a:ahLst/>
              <a:cxnLst/>
              <a:rect r="r" b="b" t="t" l="l"/>
              <a:pathLst>
                <a:path h="58572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61E18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846411" y="9905714"/>
            <a:ext cx="16563727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Claude • AI Agents • Developer Foundations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567338"/>
            <a:ext cx="1628918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4. Real-World Claude Use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9764" y="1418396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Where developer foundations become practical business solutions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2051856"/>
            <a:ext cx="5299091" cy="2759640"/>
            <a:chOff x="0" y="0"/>
            <a:chExt cx="7065454" cy="3679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2059010"/>
            <a:ext cx="96088" cy="2745343"/>
            <a:chOff x="0" y="0"/>
            <a:chExt cx="128118" cy="3660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5665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Customer Support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665" y="2955788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Claude reads the issue → retrieves relevant knowledge → drafts a response → human reviews when needed.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71866" y="2051856"/>
            <a:ext cx="5299091" cy="2759640"/>
            <a:chOff x="0" y="0"/>
            <a:chExt cx="7065454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479010" y="2059010"/>
            <a:ext cx="96088" cy="2745343"/>
            <a:chOff x="0" y="0"/>
            <a:chExt cx="128118" cy="36604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E0844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72440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Software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2440" y="2955788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Generate code → explain code → debug errors → create tests → improve documentation.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8640" y="2051856"/>
            <a:ext cx="5299091" cy="2759640"/>
            <a:chOff x="0" y="0"/>
            <a:chExt cx="7065454" cy="3679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65518" cy="3679571"/>
            </a:xfrm>
            <a:custGeom>
              <a:avLst/>
              <a:gdLst/>
              <a:ahLst/>
              <a:cxnLst/>
              <a:rect r="r" b="b" t="t" l="l"/>
              <a:pathLst>
                <a:path h="3679571" w="7065518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452235" y="0"/>
                  </a:lnTo>
                  <a:cubicBezTo>
                    <a:pt x="6790944" y="0"/>
                    <a:pt x="7065518" y="274574"/>
                    <a:pt x="7065518" y="613283"/>
                  </a:cubicBezTo>
                  <a:lnTo>
                    <a:pt x="7065518" y="3066288"/>
                  </a:lnTo>
                  <a:cubicBezTo>
                    <a:pt x="7065518" y="3404997"/>
                    <a:pt x="6790944" y="3679571"/>
                    <a:pt x="6452235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65784" y="2059010"/>
            <a:ext cx="96088" cy="2745343"/>
            <a:chOff x="0" y="0"/>
            <a:chExt cx="128118" cy="36604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48785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59214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Data &amp; Knowledge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9214" y="2955788"/>
            <a:ext cx="4580296" cy="166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Search documents, summarize findings and answer questions using controlled context.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5092" y="5277641"/>
            <a:ext cx="8113062" cy="2622375"/>
            <a:chOff x="0" y="0"/>
            <a:chExt cx="10817416" cy="3496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17479" cy="3496564"/>
            </a:xfrm>
            <a:custGeom>
              <a:avLst/>
              <a:gdLst/>
              <a:ahLst/>
              <a:cxnLst/>
              <a:rect r="r" b="b" t="t" l="l"/>
              <a:pathLst>
                <a:path h="3496564" w="10817479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10234676" y="0"/>
                  </a:lnTo>
                  <a:cubicBezTo>
                    <a:pt x="10556494" y="0"/>
                    <a:pt x="10817479" y="260858"/>
                    <a:pt x="10817479" y="582803"/>
                  </a:cubicBezTo>
                  <a:lnTo>
                    <a:pt x="10817479" y="2913761"/>
                  </a:lnTo>
                  <a:cubicBezTo>
                    <a:pt x="10817479" y="3235579"/>
                    <a:pt x="10556621" y="3496564"/>
                    <a:pt x="10234676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2235" y="5284784"/>
            <a:ext cx="96088" cy="2608078"/>
            <a:chOff x="0" y="0"/>
            <a:chExt cx="128118" cy="3477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143" cy="3477387"/>
            </a:xfrm>
            <a:custGeom>
              <a:avLst/>
              <a:gdLst/>
              <a:ahLst/>
              <a:cxnLst/>
              <a:rect r="r" b="b" t="t" l="l"/>
              <a:pathLst>
                <a:path h="347738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CDA44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85665" y="5536406"/>
            <a:ext cx="743545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Example: Developer Copilot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665" y="6181563"/>
            <a:ext cx="7394267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Developer: “Why is this API failing?”</a:t>
            </a:r>
          </a:p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Claude → inspects code/error context → identifies likely cause → suggests fix → generates a test.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54474" y="5277641"/>
            <a:ext cx="8003248" cy="2622375"/>
            <a:chOff x="0" y="0"/>
            <a:chExt cx="10670997" cy="3496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1048" cy="3496564"/>
            </a:xfrm>
            <a:custGeom>
              <a:avLst/>
              <a:gdLst/>
              <a:ahLst/>
              <a:cxnLst/>
              <a:rect r="r" b="b" t="t" l="l"/>
              <a:pathLst>
                <a:path h="3496564" w="10671048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10088245" y="0"/>
                  </a:lnTo>
                  <a:cubicBezTo>
                    <a:pt x="10410063" y="0"/>
                    <a:pt x="10671048" y="260858"/>
                    <a:pt x="10671048" y="582803"/>
                  </a:cubicBezTo>
                  <a:lnTo>
                    <a:pt x="10671048" y="2913761"/>
                  </a:lnTo>
                  <a:cubicBezTo>
                    <a:pt x="10671048" y="3235579"/>
                    <a:pt x="10410189" y="3496564"/>
                    <a:pt x="10088245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361627" y="5284784"/>
            <a:ext cx="96088" cy="2608078"/>
            <a:chOff x="0" y="0"/>
            <a:chExt cx="128118" cy="34774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143" cy="3477387"/>
            </a:xfrm>
            <a:custGeom>
              <a:avLst/>
              <a:gdLst/>
              <a:ahLst/>
              <a:cxnLst/>
              <a:rect r="r" b="b" t="t" l="l"/>
              <a:pathLst>
                <a:path h="347738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654C3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755057" y="5536406"/>
            <a:ext cx="732563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Example: AI Agent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55057" y="6181563"/>
            <a:ext cx="7284453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User asks for a report → agent gathers approved data → analyzes it → validates output → prepares a concise business summary.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0" y="9855784"/>
            <a:ext cx="18301840" cy="439255"/>
            <a:chOff x="0" y="0"/>
            <a:chExt cx="24402453" cy="5856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402414" cy="585724"/>
            </a:xfrm>
            <a:custGeom>
              <a:avLst/>
              <a:gdLst/>
              <a:ahLst/>
              <a:cxnLst/>
              <a:rect r="r" b="b" t="t" l="l"/>
              <a:pathLst>
                <a:path h="58572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61E1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46411" y="9905714"/>
            <a:ext cx="16563727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Claude • AI Agents • Developer Foundations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567338"/>
            <a:ext cx="1628918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5. Building Secure &amp; Production-Ready AI Apps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9764" y="1418396"/>
            <a:ext cx="1587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Developer foundations are not only about prompting — they are about engineering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2051856"/>
            <a:ext cx="5299091" cy="2622375"/>
            <a:chOff x="0" y="0"/>
            <a:chExt cx="7065454" cy="3496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65518" cy="3496564"/>
            </a:xfrm>
            <a:custGeom>
              <a:avLst/>
              <a:gdLst/>
              <a:ahLst/>
              <a:cxnLst/>
              <a:rect r="r" b="b" t="t" l="l"/>
              <a:pathLst>
                <a:path h="3496564" w="7065518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482715" y="0"/>
                  </a:lnTo>
                  <a:cubicBezTo>
                    <a:pt x="6804533" y="0"/>
                    <a:pt x="7065518" y="260858"/>
                    <a:pt x="7065518" y="582803"/>
                  </a:cubicBezTo>
                  <a:lnTo>
                    <a:pt x="7065518" y="2913761"/>
                  </a:lnTo>
                  <a:cubicBezTo>
                    <a:pt x="7065518" y="3235579"/>
                    <a:pt x="6804660" y="3496564"/>
                    <a:pt x="6482715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2059010"/>
            <a:ext cx="96088" cy="2608078"/>
            <a:chOff x="0" y="0"/>
            <a:chExt cx="128118" cy="34774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43" cy="3477387"/>
            </a:xfrm>
            <a:custGeom>
              <a:avLst/>
              <a:gdLst/>
              <a:ahLst/>
              <a:cxnLst/>
              <a:rect r="r" b="b" t="t" l="l"/>
              <a:pathLst>
                <a:path h="347738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5665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Identity &amp; Secrets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665" y="2955788"/>
            <a:ext cx="4580296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Protect API keys and credentials. Use secure secret management and least-privilege access.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471866" y="2051856"/>
            <a:ext cx="5299091" cy="2622375"/>
            <a:chOff x="0" y="0"/>
            <a:chExt cx="7065454" cy="3496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5518" cy="3496564"/>
            </a:xfrm>
            <a:custGeom>
              <a:avLst/>
              <a:gdLst/>
              <a:ahLst/>
              <a:cxnLst/>
              <a:rect r="r" b="b" t="t" l="l"/>
              <a:pathLst>
                <a:path h="3496564" w="7065518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482715" y="0"/>
                  </a:lnTo>
                  <a:cubicBezTo>
                    <a:pt x="6804533" y="0"/>
                    <a:pt x="7065518" y="260858"/>
                    <a:pt x="7065518" y="582803"/>
                  </a:cubicBezTo>
                  <a:lnTo>
                    <a:pt x="7065518" y="2913761"/>
                  </a:lnTo>
                  <a:cubicBezTo>
                    <a:pt x="7065518" y="3235579"/>
                    <a:pt x="6804660" y="3496564"/>
                    <a:pt x="6482715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479010" y="2059010"/>
            <a:ext cx="96088" cy="2608078"/>
            <a:chOff x="0" y="0"/>
            <a:chExt cx="128118" cy="34774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43" cy="3477387"/>
            </a:xfrm>
            <a:custGeom>
              <a:avLst/>
              <a:gdLst/>
              <a:ahLst/>
              <a:cxnLst/>
              <a:rect r="r" b="b" t="t" l="l"/>
              <a:pathLst>
                <a:path h="347738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48785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72440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AI App Security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72440" y="2955788"/>
            <a:ext cx="4580296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Control inputs, outputs, tools and sensitive data. Avoid exposing secrets through model responses.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8640" y="2051856"/>
            <a:ext cx="5299091" cy="2622375"/>
            <a:chOff x="0" y="0"/>
            <a:chExt cx="7065454" cy="3496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65518" cy="3496564"/>
            </a:xfrm>
            <a:custGeom>
              <a:avLst/>
              <a:gdLst/>
              <a:ahLst/>
              <a:cxnLst/>
              <a:rect r="r" b="b" t="t" l="l"/>
              <a:pathLst>
                <a:path h="3496564" w="7065518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482715" y="0"/>
                  </a:lnTo>
                  <a:cubicBezTo>
                    <a:pt x="6804533" y="0"/>
                    <a:pt x="7065518" y="260858"/>
                    <a:pt x="7065518" y="582803"/>
                  </a:cubicBezTo>
                  <a:lnTo>
                    <a:pt x="7065518" y="2913761"/>
                  </a:lnTo>
                  <a:cubicBezTo>
                    <a:pt x="7065518" y="3235579"/>
                    <a:pt x="6804660" y="3496564"/>
                    <a:pt x="6482715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65784" y="2059010"/>
            <a:ext cx="96088" cy="2608078"/>
            <a:chOff x="0" y="0"/>
            <a:chExt cx="128118" cy="34774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143" cy="3477387"/>
            </a:xfrm>
            <a:custGeom>
              <a:avLst/>
              <a:gdLst/>
              <a:ahLst/>
              <a:cxnLst/>
              <a:rect r="r" b="b" t="t" l="l"/>
              <a:pathLst>
                <a:path h="347738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E0844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59214" y="2310632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Debugging &amp; Observability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9214" y="2955788"/>
            <a:ext cx="4580296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Trace failures, inspect tool calls and validate model behavior during development.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5092" y="5209003"/>
            <a:ext cx="5299091" cy="2622375"/>
            <a:chOff x="0" y="0"/>
            <a:chExt cx="7065454" cy="3496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5518" cy="3496564"/>
            </a:xfrm>
            <a:custGeom>
              <a:avLst/>
              <a:gdLst/>
              <a:ahLst/>
              <a:cxnLst/>
              <a:rect r="r" b="b" t="t" l="l"/>
              <a:pathLst>
                <a:path h="3496564" w="7065518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482715" y="0"/>
                  </a:lnTo>
                  <a:cubicBezTo>
                    <a:pt x="6804533" y="0"/>
                    <a:pt x="7065518" y="260858"/>
                    <a:pt x="7065518" y="582803"/>
                  </a:cubicBezTo>
                  <a:lnTo>
                    <a:pt x="7065518" y="2913761"/>
                  </a:lnTo>
                  <a:cubicBezTo>
                    <a:pt x="7065518" y="3235579"/>
                    <a:pt x="6804660" y="3496564"/>
                    <a:pt x="6482715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2235" y="5216157"/>
            <a:ext cx="96088" cy="2608078"/>
            <a:chOff x="0" y="0"/>
            <a:chExt cx="128118" cy="3477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143" cy="3477387"/>
            </a:xfrm>
            <a:custGeom>
              <a:avLst/>
              <a:gdLst/>
              <a:ahLst/>
              <a:cxnLst/>
              <a:rect r="r" b="b" t="t" l="l"/>
              <a:pathLst>
                <a:path h="347738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CDA44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85665" y="5467779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Configuration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665" y="6112935"/>
            <a:ext cx="4580296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Keep model settings, prompts and environment-specific configuration manageable and repeatable.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71866" y="5209003"/>
            <a:ext cx="5299091" cy="2622375"/>
            <a:chOff x="0" y="0"/>
            <a:chExt cx="7065454" cy="3496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65518" cy="3496564"/>
            </a:xfrm>
            <a:custGeom>
              <a:avLst/>
              <a:gdLst/>
              <a:ahLst/>
              <a:cxnLst/>
              <a:rect r="r" b="b" t="t" l="l"/>
              <a:pathLst>
                <a:path h="3496564" w="7065518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482715" y="0"/>
                  </a:lnTo>
                  <a:cubicBezTo>
                    <a:pt x="6804533" y="0"/>
                    <a:pt x="7065518" y="260858"/>
                    <a:pt x="7065518" y="582803"/>
                  </a:cubicBezTo>
                  <a:lnTo>
                    <a:pt x="7065518" y="2913761"/>
                  </a:lnTo>
                  <a:cubicBezTo>
                    <a:pt x="7065518" y="3235579"/>
                    <a:pt x="6804660" y="3496564"/>
                    <a:pt x="6482715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479010" y="5216157"/>
            <a:ext cx="96088" cy="2608078"/>
            <a:chOff x="0" y="0"/>
            <a:chExt cx="128118" cy="34774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143" cy="3477387"/>
            </a:xfrm>
            <a:custGeom>
              <a:avLst/>
              <a:gdLst/>
              <a:ahLst/>
              <a:cxnLst/>
              <a:rect r="r" b="b" t="t" l="l"/>
              <a:pathLst>
                <a:path h="347738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654C3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872440" y="5467779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Hooks &amp; Tooling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72440" y="6112935"/>
            <a:ext cx="4580296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Use controlled extension points and tools to connect agents with real application workflows.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058640" y="5209003"/>
            <a:ext cx="5299091" cy="2622375"/>
            <a:chOff x="0" y="0"/>
            <a:chExt cx="7065454" cy="3496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65518" cy="3496564"/>
            </a:xfrm>
            <a:custGeom>
              <a:avLst/>
              <a:gdLst/>
              <a:ahLst/>
              <a:cxnLst/>
              <a:rect r="r" b="b" t="t" l="l"/>
              <a:pathLst>
                <a:path h="3496564" w="7065518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482715" y="0"/>
                  </a:lnTo>
                  <a:cubicBezTo>
                    <a:pt x="6804533" y="0"/>
                    <a:pt x="7065518" y="260858"/>
                    <a:pt x="7065518" y="582803"/>
                  </a:cubicBezTo>
                  <a:lnTo>
                    <a:pt x="7065518" y="2913761"/>
                  </a:lnTo>
                  <a:cubicBezTo>
                    <a:pt x="7065518" y="3235579"/>
                    <a:pt x="6804660" y="3496564"/>
                    <a:pt x="6482715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BE2D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065784" y="5216157"/>
            <a:ext cx="96088" cy="2608078"/>
            <a:chOff x="0" y="0"/>
            <a:chExt cx="128118" cy="34774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143" cy="3477387"/>
            </a:xfrm>
            <a:custGeom>
              <a:avLst/>
              <a:gdLst/>
              <a:ahLst/>
              <a:cxnLst/>
              <a:rect r="r" b="b" t="t" l="l"/>
              <a:pathLst>
                <a:path h="347738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BE5237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459214" y="5467779"/>
            <a:ext cx="462147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326" b="true">
                <a:solidFill>
                  <a:srgbClr val="261E18"/>
                </a:solidFill>
                <a:latin typeface="Aptos Bold"/>
                <a:ea typeface="Aptos Bold"/>
                <a:cs typeface="Aptos Bold"/>
                <a:sym typeface="Aptos Bold"/>
              </a:rPr>
              <a:t>MCP &amp; Integrations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59214" y="6112935"/>
            <a:ext cx="4580296" cy="152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>
                <a:solidFill>
                  <a:srgbClr val="5B534C"/>
                </a:solidFill>
                <a:latin typeface="Aptos"/>
                <a:ea typeface="Aptos"/>
                <a:cs typeface="Aptos"/>
                <a:sym typeface="Aptos"/>
              </a:rPr>
              <a:t>Connect AI applications to external tools and data through standardized interfaces and clear boundaries.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0" y="9855784"/>
            <a:ext cx="18301840" cy="439255"/>
            <a:chOff x="0" y="0"/>
            <a:chExt cx="24402453" cy="5856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402414" cy="585724"/>
            </a:xfrm>
            <a:custGeom>
              <a:avLst/>
              <a:gdLst/>
              <a:ahLst/>
              <a:cxnLst/>
              <a:rect r="r" b="b" t="t" l="l"/>
              <a:pathLst>
                <a:path h="58572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585724"/>
                  </a:lnTo>
                  <a:lnTo>
                    <a:pt x="0" y="585724"/>
                  </a:lnTo>
                  <a:close/>
                </a:path>
              </a:pathLst>
            </a:custGeom>
            <a:solidFill>
              <a:srgbClr val="261E1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46411" y="9905714"/>
            <a:ext cx="16563727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Claude • AI Agents • Developer Foundations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6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0940" y="663426"/>
            <a:ext cx="16289188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CLAUDE DEVELOPER FOUNDATIONS — LEARNING 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126" y="1418396"/>
            <a:ext cx="1601465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D7CDC3"/>
                </a:solidFill>
                <a:latin typeface="Aptos"/>
                <a:ea typeface="Aptos"/>
                <a:cs typeface="Aptos"/>
                <a:sym typeface="Aptos"/>
              </a:rPr>
              <a:t>A practical path from fundamentals to agentic application development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3719" y="2738199"/>
            <a:ext cx="3747964" cy="2965542"/>
            <a:chOff x="0" y="0"/>
            <a:chExt cx="4997285" cy="39540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97323" cy="3954018"/>
            </a:xfrm>
            <a:custGeom>
              <a:avLst/>
              <a:gdLst/>
              <a:ahLst/>
              <a:cxnLst/>
              <a:rect r="r" b="b" t="t" l="l"/>
              <a:pathLst>
                <a:path h="3954018" w="4997323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4338320" y="0"/>
                  </a:lnTo>
                  <a:cubicBezTo>
                    <a:pt x="4702302" y="0"/>
                    <a:pt x="4997323" y="295021"/>
                    <a:pt x="4997323" y="659003"/>
                  </a:cubicBezTo>
                  <a:lnTo>
                    <a:pt x="4997323" y="3295015"/>
                  </a:lnTo>
                  <a:cubicBezTo>
                    <a:pt x="4997323" y="3658997"/>
                    <a:pt x="4702302" y="3954018"/>
                    <a:pt x="4338320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362D27"/>
            </a:solidFill>
            <a:ln w="14299" cap="sq">
              <a:solidFill>
                <a:srgbClr val="5C4E43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99391" y="3038142"/>
            <a:ext cx="572091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BE523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9391" y="3724485"/>
            <a:ext cx="2974267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FOUNDATIONS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9391" y="4410818"/>
            <a:ext cx="2974267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DCD2C8"/>
                </a:solidFill>
                <a:latin typeface="Aptos"/>
                <a:ea typeface="Aptos"/>
                <a:cs typeface="Aptos"/>
                <a:sym typeface="Aptos"/>
              </a:rPr>
              <a:t>LLMs • API • Models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85979" y="3967363"/>
            <a:ext cx="366189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7CDC3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36454" y="2738199"/>
            <a:ext cx="3747964" cy="2965542"/>
            <a:chOff x="0" y="0"/>
            <a:chExt cx="4997285" cy="39540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97323" cy="3954018"/>
            </a:xfrm>
            <a:custGeom>
              <a:avLst/>
              <a:gdLst/>
              <a:ahLst/>
              <a:cxnLst/>
              <a:rect r="r" b="b" t="t" l="l"/>
              <a:pathLst>
                <a:path h="3954018" w="4997323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4338320" y="0"/>
                  </a:lnTo>
                  <a:cubicBezTo>
                    <a:pt x="4702302" y="0"/>
                    <a:pt x="4997323" y="295021"/>
                    <a:pt x="4997323" y="659003"/>
                  </a:cubicBezTo>
                  <a:lnTo>
                    <a:pt x="4997323" y="3295015"/>
                  </a:lnTo>
                  <a:cubicBezTo>
                    <a:pt x="4997323" y="3658997"/>
                    <a:pt x="4702302" y="3954018"/>
                    <a:pt x="4338320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362D27"/>
            </a:solidFill>
            <a:ln w="14299" cap="sq">
              <a:solidFill>
                <a:srgbClr val="5C4E4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582126" y="3038142"/>
            <a:ext cx="572091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E0844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82126" y="3724485"/>
            <a:ext cx="2974267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PROMPTS + CONTEXT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82126" y="4410818"/>
            <a:ext cx="2974267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DCD2C8"/>
                </a:solidFill>
                <a:latin typeface="Aptos"/>
                <a:ea typeface="Aptos"/>
                <a:cs typeface="Aptos"/>
                <a:sym typeface="Aptos"/>
              </a:rPr>
              <a:t>Prompting • Context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68714" y="3967363"/>
            <a:ext cx="366189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7CDC3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19199" y="2738199"/>
            <a:ext cx="3747964" cy="2965542"/>
            <a:chOff x="0" y="0"/>
            <a:chExt cx="4997285" cy="3954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97323" cy="3954018"/>
            </a:xfrm>
            <a:custGeom>
              <a:avLst/>
              <a:gdLst/>
              <a:ahLst/>
              <a:cxnLst/>
              <a:rect r="r" b="b" t="t" l="l"/>
              <a:pathLst>
                <a:path h="3954018" w="4997323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4338320" y="0"/>
                  </a:lnTo>
                  <a:cubicBezTo>
                    <a:pt x="4702302" y="0"/>
                    <a:pt x="4997323" y="295021"/>
                    <a:pt x="4997323" y="659003"/>
                  </a:cubicBezTo>
                  <a:lnTo>
                    <a:pt x="4997323" y="3295015"/>
                  </a:lnTo>
                  <a:cubicBezTo>
                    <a:pt x="4997323" y="3658997"/>
                    <a:pt x="4702302" y="3954018"/>
                    <a:pt x="4338320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362D27"/>
            </a:solidFill>
            <a:ln w="14299" cap="sq">
              <a:solidFill>
                <a:srgbClr val="5C4E43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64871" y="3038142"/>
            <a:ext cx="572091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CDA44C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64871" y="3724485"/>
            <a:ext cx="2974267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AGENTS + TOOLS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64871" y="4410818"/>
            <a:ext cx="2974267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DCD2C8"/>
                </a:solidFill>
                <a:latin typeface="Aptos"/>
                <a:ea typeface="Aptos"/>
                <a:cs typeface="Aptos"/>
                <a:sym typeface="Aptos"/>
              </a:rPr>
              <a:t>Agent patterns • Tool implementation • MCP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51459" y="3967363"/>
            <a:ext cx="366189" cy="44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D7CDC3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801935" y="2738199"/>
            <a:ext cx="3747964" cy="2965542"/>
            <a:chOff x="0" y="0"/>
            <a:chExt cx="4997285" cy="3954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7323" cy="3954018"/>
            </a:xfrm>
            <a:custGeom>
              <a:avLst/>
              <a:gdLst/>
              <a:ahLst/>
              <a:cxnLst/>
              <a:rect r="r" b="b" t="t" l="l"/>
              <a:pathLst>
                <a:path h="3954018" w="4997323">
                  <a:moveTo>
                    <a:pt x="0" y="659003"/>
                  </a:moveTo>
                  <a:cubicBezTo>
                    <a:pt x="0" y="295021"/>
                    <a:pt x="295021" y="0"/>
                    <a:pt x="659003" y="0"/>
                  </a:cubicBezTo>
                  <a:lnTo>
                    <a:pt x="4338320" y="0"/>
                  </a:lnTo>
                  <a:cubicBezTo>
                    <a:pt x="4702302" y="0"/>
                    <a:pt x="4997323" y="295021"/>
                    <a:pt x="4997323" y="659003"/>
                  </a:cubicBezTo>
                  <a:lnTo>
                    <a:pt x="4997323" y="3295015"/>
                  </a:lnTo>
                  <a:cubicBezTo>
                    <a:pt x="4997323" y="3658997"/>
                    <a:pt x="4702302" y="3954018"/>
                    <a:pt x="4338320" y="3954018"/>
                  </a:cubicBezTo>
                  <a:lnTo>
                    <a:pt x="659003" y="3954018"/>
                  </a:lnTo>
                  <a:cubicBezTo>
                    <a:pt x="295021" y="3954018"/>
                    <a:pt x="0" y="3658997"/>
                    <a:pt x="0" y="3295015"/>
                  </a:cubicBezTo>
                  <a:close/>
                </a:path>
              </a:pathLst>
            </a:custGeom>
            <a:solidFill>
              <a:srgbClr val="362D27"/>
            </a:solidFill>
            <a:ln w="14299" cap="sq">
              <a:solidFill>
                <a:srgbClr val="5C4E43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147606" y="3038142"/>
            <a:ext cx="572091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487856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47606" y="3724485"/>
            <a:ext cx="2974267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PRODUCTION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47606" y="4410818"/>
            <a:ext cx="2974267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DCD2C8"/>
                </a:solidFill>
                <a:latin typeface="Aptos"/>
                <a:ea typeface="Aptos"/>
                <a:cs typeface="Aptos"/>
                <a:sym typeface="Aptos"/>
              </a:rPr>
              <a:t>Security • Debugging • Cost • Reliability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4116" y="6565916"/>
            <a:ext cx="15328316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F4DCBE"/>
                </a:solidFill>
                <a:latin typeface="Aptos Bold"/>
                <a:ea typeface="Aptos Bold"/>
                <a:cs typeface="Aptos Bold"/>
                <a:sym typeface="Aptos Bold"/>
              </a:rPr>
              <a:t>From “What can AI do?” → “How do I engineer AI that works reliably?”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38646" y="7810843"/>
            <a:ext cx="14779247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405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38646" y="8615401"/>
            <a:ext cx="14779247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D7CDC3"/>
                </a:solidFill>
                <a:latin typeface="Aptos"/>
                <a:ea typeface="Aptos"/>
                <a:cs typeface="Aptos"/>
                <a:sym typeface="Aptos"/>
              </a:rPr>
              <a:t>Presented by Shruti Pawar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DAHZeIFJgKw</dc:identifier>
  <dcterms:modified xsi:type="dcterms:W3CDTF">2011-08-01T06:04:30Z</dcterms:modified>
  <cp:revision>1</cp:revision>
  <dc:title>Claude_Certified_Developer_Foundations_Presentation.pptx</dc:title>
</cp:coreProperties>
</file>